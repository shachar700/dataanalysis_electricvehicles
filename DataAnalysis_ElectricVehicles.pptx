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A136FA-2B72-4651-A519-8C62079C87FA}">
  <a:tblStyle styleId="{A1A136FA-2B72-4651-A519-8C62079C87F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italic.fntdata"/><Relationship Id="rId10" Type="http://schemas.openxmlformats.org/officeDocument/2006/relationships/slide" Target="slides/slide4.xml"/><Relationship Id="rId32" Type="http://schemas.openxmlformats.org/officeDocument/2006/relationships/font" Target="fonts/Robo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Robo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5da4827f45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5da4827f45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da4827f4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da4827f4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5da4827f45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5da4827f45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5da4827f4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5da4827f4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da4827f45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5da4827f45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5da4827f45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5da4827f45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5da4827f45_2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5da4827f45_2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5da4827f45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5da4827f45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5da4827f45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5da4827f45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5da4827f45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5da4827f45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5da4827f45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5da4827f45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5da4827f45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5da4827f45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5da4827f45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5da4827f45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5da4827f45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5da4827f45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5da4827f45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5da4827f45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da4827f4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da4827f4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5da4827f45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5da4827f45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5da4827f45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5da4827f45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5da4827f45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5da4827f45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5da4827f45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5da4827f45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5da4827f45_2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5da4827f45_2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5da4827f45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5da4827f45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da4827f45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da4827f45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gradFill>
          <a:gsLst>
            <a:gs pos="0">
              <a:srgbClr val="C9DAF8"/>
            </a:gs>
            <a:gs pos="100000">
              <a:schemeClr val="lt1"/>
            </a:gs>
          </a:gsLst>
          <a:lin ang="5400012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github.com/shachar700/DataAnalysis_ElectricVehicles" TargetMode="External"/><Relationship Id="rId5" Type="http://schemas.openxmlformats.org/officeDocument/2006/relationships/hyperlink" Target="https://colab.research.google.com/drive/1IZluGjST-g406fcuba5vIkrgK7rjw2uS?usp=sharing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atalog.data.gov/dataset/electric-vehicle-population-data" TargetMode="External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Relationship Id="rId6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Relationship Id="rId4" Type="http://schemas.openxmlformats.org/officeDocument/2006/relationships/image" Target="../media/image2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Data Analysis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w"/>
              <a:t>Electric Vehicles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Shahar Berenson	208608414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Shlomi </a:t>
            </a:r>
            <a:r>
              <a:rPr lang="iw"/>
              <a:t>Fridman</a:t>
            </a:r>
            <a:r>
              <a:rPr lang="iw"/>
              <a:t>		318187002</a:t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101000" y="3988300"/>
            <a:ext cx="9420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hlink"/>
                </a:solidFill>
                <a:hlinkClick r:id="rId4"/>
              </a:rPr>
              <a:t>GitHub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931050" y="4376650"/>
            <a:ext cx="12819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hlink"/>
                </a:solidFill>
                <a:hlinkClick r:id="rId5"/>
              </a:rPr>
              <a:t>Notebook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idx="4294967295" type="title"/>
          </p:nvPr>
        </p:nvSpPr>
        <p:spPr>
          <a:xfrm>
            <a:off x="311700" y="445025"/>
            <a:ext cx="1898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iw"/>
              <a:t>Members</a:t>
            </a:r>
            <a:endParaRPr b="1" sz="23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4"/>
          <p:cNvSpPr txBox="1"/>
          <p:nvPr>
            <p:ph idx="4294967295" type="body"/>
          </p:nvPr>
        </p:nvSpPr>
        <p:spPr>
          <a:xfrm>
            <a:off x="808700" y="4624400"/>
            <a:ext cx="3629100" cy="4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Shahar Berenson</a:t>
            </a:r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788" y="976313"/>
            <a:ext cx="3629025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4294967295" type="body"/>
          </p:nvPr>
        </p:nvSpPr>
        <p:spPr>
          <a:xfrm>
            <a:off x="4870888" y="4624400"/>
            <a:ext cx="3629100" cy="4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Shlomi Fridman</a:t>
            </a:r>
            <a:endParaRPr/>
          </a:p>
        </p:txBody>
      </p:sp>
      <p:pic>
        <p:nvPicPr>
          <p:cNvPr id="67" name="Google Shape;67;p14" title="file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70900" y="985800"/>
            <a:ext cx="3629100" cy="362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Introduction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iw" sz="2300"/>
              <a:t>Electric Vehicle Population Data</a:t>
            </a:r>
            <a:endParaRPr b="1" sz="23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311700" y="1613400"/>
            <a:ext cx="8520600" cy="29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This dataset shows the Battery Electric Vehicles (BEVs) and Plug-in Hybrid Electric Vehicles (PHEVs) that are currently registered through Washington State Department of Licensing (DOL).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w" u="sng">
                <a:solidFill>
                  <a:schemeClr val="hlink"/>
                </a:solidFill>
                <a:hlinkClick r:id="rId3"/>
              </a:rPr>
              <a:t>Source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metadata: May 17th 2025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246,138 rows x </a:t>
            </a:r>
            <a:r>
              <a:rPr lang="iw"/>
              <a:t>17 columns</a:t>
            </a:r>
            <a:endParaRPr/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title"/>
          </p:nvPr>
        </p:nvSpPr>
        <p:spPr>
          <a:xfrm>
            <a:off x="311700" y="159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Features (1)</a:t>
            </a:r>
            <a:endParaRPr/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311700" y="789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{A1A136FA-2B72-4651-A519-8C62079C87FA}</a:tableStyleId>
              </a:tblPr>
              <a:tblGrid>
                <a:gridCol w="2019075"/>
                <a:gridCol w="52199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Feature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Description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VIN (1-10)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First 10 characters of the Vehicle Identification Number.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County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county where the vehicle is registered or located.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City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city where the vehicle is registered or located.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State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U.S. state abbreviation (e.g., WA for Washington).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Postal Code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ZIP/postal code of the vehicle's location.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 Year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year the vehicle was manufactured.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Make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manufacturer (e.g., Tesla, Nissan).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specific model of the car (e.g., Model 3, Leaf).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Vehicle Type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EV (Battery Electric Vehicle (BEV), Plug-in Hybrid Electric Vehicle (PHEV)).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311700" y="159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Features (2)</a:t>
            </a:r>
            <a:endParaRPr/>
          </a:p>
        </p:txBody>
      </p:sp>
      <p:graphicFrame>
        <p:nvGraphicFramePr>
          <p:cNvPr id="86" name="Google Shape;86;p17"/>
          <p:cNvGraphicFramePr/>
          <p:nvPr/>
        </p:nvGraphicFramePr>
        <p:xfrm>
          <a:off x="311700" y="789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{A1A136FA-2B72-4651-A519-8C62079C87FA}</a:tableStyleId>
              </a:tblPr>
              <a:tblGrid>
                <a:gridCol w="2019050"/>
                <a:gridCol w="52199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Feature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Description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Clean Alternative Fuel Vehicle (CAFV) Eligibility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Indicates whether the vehicle qualifies under CAFV rules.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Range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How many miles the vehicle can travel on electricity alone.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Base MSRP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Manufacturer's Suggested Retail Price at base level (starting price).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Legislative District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Legislative district associated with the vehicle's location.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DOL Vehicle ID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Department of Licensing Vehicle ID (state-assigned).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Vehicle Location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More detailed info about where the vehicle is located.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Utility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electric company servicing that area.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2020 Census Tract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Census tract identifier from the 2020 census (used for demographic/geographic analysis).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Dropped Features</a:t>
            </a:r>
            <a:endParaRPr/>
          </a:p>
        </p:txBody>
      </p:sp>
      <p:sp>
        <p:nvSpPr>
          <p:cNvPr id="92" name="Google Shape;92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We didn’t find interesting details about the following features, so we chose to drop them: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Base MSRP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Vehicle Location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DOL Vehicle ID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2020 Census Tract</a:t>
            </a:r>
            <a:endParaRPr/>
          </a:p>
        </p:txBody>
      </p:sp>
      <p:pic>
        <p:nvPicPr>
          <p:cNvPr id="93" name="Google Shape;9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025" y="4206000"/>
            <a:ext cx="8520601" cy="68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Missing Values</a:t>
            </a:r>
            <a:endParaRPr/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1152475"/>
            <a:ext cx="5132700" cy="2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The only missing values we cared about were the County and City values, thus we chose to drop those rows.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The missing values in Electric Range and Base MSRP were indication that the data was unknown, which we used in </a:t>
            </a:r>
            <a:r>
              <a:rPr lang="iw"/>
              <a:t>statistics later on</a:t>
            </a:r>
            <a:endParaRPr/>
          </a:p>
        </p:txBody>
      </p:sp>
      <p:pic>
        <p:nvPicPr>
          <p:cNvPr id="100" name="Google Shape;10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4075" y="109575"/>
            <a:ext cx="2783725" cy="4131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575" y="4310650"/>
            <a:ext cx="8934252" cy="72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Questions</a:t>
            </a:r>
            <a:endParaRPr/>
          </a:p>
        </p:txBody>
      </p:sp>
      <p:sp>
        <p:nvSpPr>
          <p:cNvPr id="107" name="Google Shape;107;p20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The questions we’ve had about the dataset were: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State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WA County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City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Electric Utility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Electric Vehicle Type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Top 5 makes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Top 5 models</a:t>
            </a:r>
            <a:endParaRPr>
              <a:solidFill>
                <a:srgbClr val="38761D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Models per Make (top 3)</a:t>
            </a:r>
            <a:endParaRPr>
              <a:solidFill>
                <a:srgbClr val="FF99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Top Make per County (top 10)</a:t>
            </a:r>
            <a:endParaRPr>
              <a:solidFill>
                <a:srgbClr val="FF99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Top Models per County (top 10)</a:t>
            </a:r>
            <a:endParaRPr>
              <a:solidFill>
                <a:srgbClr val="FF99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Top 3 Make per CAFV </a:t>
            </a:r>
            <a:r>
              <a:rPr lang="iw">
                <a:solidFill>
                  <a:srgbClr val="FF0000"/>
                </a:solidFill>
              </a:rPr>
              <a:t>Eligibility</a:t>
            </a:r>
            <a:endParaRPr>
              <a:solidFill>
                <a:srgbClr val="FF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Mean Electric Range of Top 3 Make per CAFV Eligibility</a:t>
            </a:r>
            <a:endParaRPr>
              <a:solidFill>
                <a:srgbClr val="FF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Top models </a:t>
            </a:r>
            <a:r>
              <a:rPr lang="iw">
                <a:solidFill>
                  <a:srgbClr val="FF0000"/>
                </a:solidFill>
              </a:rPr>
              <a:t>of Make </a:t>
            </a:r>
            <a:r>
              <a:rPr lang="iw">
                <a:solidFill>
                  <a:srgbClr val="FF0000"/>
                </a:solidFill>
              </a:rPr>
              <a:t>per CAFV </a:t>
            </a:r>
            <a:r>
              <a:rPr lang="iw">
                <a:solidFill>
                  <a:srgbClr val="FF0000"/>
                </a:solidFill>
              </a:rPr>
              <a:t>Eligibility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8" name="Google Shape;108;p20"/>
          <p:cNvSpPr txBox="1"/>
          <p:nvPr/>
        </p:nvSpPr>
        <p:spPr>
          <a:xfrm>
            <a:off x="7154975" y="0"/>
            <a:ext cx="1863000" cy="15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dk2"/>
                </a:solidFill>
              </a:rPr>
              <a:t>Legend</a:t>
            </a:r>
            <a:r>
              <a:rPr lang="iw" sz="1800">
                <a:solidFill>
                  <a:schemeClr val="dk2"/>
                </a:solidFill>
              </a:rPr>
              <a:t>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 sz="1800">
                <a:solidFill>
                  <a:srgbClr val="38761D"/>
                </a:solidFill>
              </a:rPr>
              <a:t>Univariate</a:t>
            </a:r>
            <a:endParaRPr sz="1800">
              <a:solidFill>
                <a:srgbClr val="38761D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 sz="1800">
                <a:solidFill>
                  <a:srgbClr val="FF9900"/>
                </a:solidFill>
              </a:rPr>
              <a:t>Bivariate</a:t>
            </a:r>
            <a:endParaRPr sz="1800">
              <a:solidFill>
                <a:srgbClr val="FF99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 sz="1800">
                <a:solidFill>
                  <a:srgbClr val="FF0000"/>
                </a:solidFill>
              </a:rPr>
              <a:t>Multivariate</a:t>
            </a:r>
            <a:endParaRPr sz="18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State</a:t>
            </a:r>
            <a:endParaRPr/>
          </a:p>
        </p:txBody>
      </p:sp>
      <p:sp>
        <p:nvSpPr>
          <p:cNvPr id="114" name="Google Shape;114;p21"/>
          <p:cNvSpPr txBox="1"/>
          <p:nvPr>
            <p:ph idx="1" type="body"/>
          </p:nvPr>
        </p:nvSpPr>
        <p:spPr>
          <a:xfrm>
            <a:off x="311700" y="1152475"/>
            <a:ext cx="5010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Most vehicles in the databset are from from Washington, roughly ~235,000 in WA followed by ~100 in CA</a:t>
            </a:r>
            <a:br>
              <a:rPr lang="iw"/>
            </a:br>
            <a:r>
              <a:rPr lang="iw"/>
              <a:t>Thus we concluded that vehicles not from WA are outliers</a:t>
            </a:r>
            <a:endParaRPr/>
          </a:p>
        </p:txBody>
      </p:sp>
      <p:pic>
        <p:nvPicPr>
          <p:cNvPr id="115" name="Google Shape;11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21575" y="649950"/>
            <a:ext cx="3738349" cy="4493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1"/>
          <p:cNvSpPr txBox="1"/>
          <p:nvPr/>
        </p:nvSpPr>
        <p:spPr>
          <a:xfrm>
            <a:off x="6254825" y="214550"/>
            <a:ext cx="24129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>
                <a:solidFill>
                  <a:schemeClr val="dk2"/>
                </a:solidFill>
              </a:rPr>
              <a:t>WA Trimmed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5511" y="2858725"/>
            <a:ext cx="2276075" cy="228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950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Vehicles per WA County</a:t>
            </a:r>
            <a:endParaRPr/>
          </a:p>
        </p:txBody>
      </p:sp>
      <p:sp>
        <p:nvSpPr>
          <p:cNvPr id="123" name="Google Shape;123;p22"/>
          <p:cNvSpPr txBox="1"/>
          <p:nvPr>
            <p:ph idx="1" type="body"/>
          </p:nvPr>
        </p:nvSpPr>
        <p:spPr>
          <a:xfrm>
            <a:off x="311700" y="944100"/>
            <a:ext cx="8520600" cy="8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500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Conclusion: King county has the most (118,711) by a </a:t>
            </a:r>
            <a:r>
              <a:rPr b="1" lang="iw" sz="1500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large </a:t>
            </a:r>
            <a:r>
              <a:rPr lang="iw" sz="1500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margin, followed by Snohomish Thus we can conclude that any vehicle not in King county is a minor outlier in the dataset</a:t>
            </a:r>
            <a:endParaRPr sz="2100"/>
          </a:p>
        </p:txBody>
      </p:sp>
      <p:pic>
        <p:nvPicPr>
          <p:cNvPr id="124" name="Google Shape;12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150" y="1692150"/>
            <a:ext cx="7582999" cy="32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8276" y="2146476"/>
            <a:ext cx="3035725" cy="2997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idx="1" type="body"/>
          </p:nvPr>
        </p:nvSpPr>
        <p:spPr>
          <a:xfrm>
            <a:off x="311700" y="1017725"/>
            <a:ext cx="8832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Tesla is the most popular make in the top 20 cities by a large margin</a:t>
            </a:r>
            <a:endParaRPr/>
          </a:p>
        </p:txBody>
      </p:sp>
      <p:pic>
        <p:nvPicPr>
          <p:cNvPr id="131" name="Google Shape;13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7637" y="1615900"/>
            <a:ext cx="3768736" cy="35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950">
                <a:solidFill>
                  <a:srgbClr val="1F1F1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Vehicles per City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Electric Utility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>
                <a:latin typeface="Roboto"/>
                <a:ea typeface="Roboto"/>
                <a:cs typeface="Roboto"/>
                <a:sym typeface="Roboto"/>
              </a:rPr>
              <a:t>Conclusion: We see that 'Puget Sound Energy Inc' is the utility that service the most vehicles, followed </a:t>
            </a:r>
            <a:r>
              <a:rPr lang="iw">
                <a:latin typeface="Roboto"/>
                <a:ea typeface="Roboto"/>
                <a:cs typeface="Roboto"/>
                <a:sym typeface="Roboto"/>
              </a:rPr>
              <a:t>closely</a:t>
            </a:r>
            <a:r>
              <a:rPr lang="iw">
                <a:latin typeface="Roboto"/>
                <a:ea typeface="Roboto"/>
                <a:cs typeface="Roboto"/>
                <a:sym typeface="Roboto"/>
              </a:rPr>
              <a:t> by 'City of Tacoma'</a:t>
            </a:r>
            <a:endParaRPr/>
          </a:p>
        </p:txBody>
      </p:sp>
      <p:pic>
        <p:nvPicPr>
          <p:cNvPr id="139" name="Google Shape;13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3775" y="1959025"/>
            <a:ext cx="5316469" cy="318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Electric Vehicle Type</a:t>
            </a:r>
            <a:endParaRPr/>
          </a:p>
        </p:txBody>
      </p:sp>
      <p:sp>
        <p:nvSpPr>
          <p:cNvPr id="145" name="Google Shape;145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 ~80% of vehicles are Battery Electric Vehicle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1 out of 5 vehicles is Plug-in Hybrid Vehicle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54925" y="2216625"/>
            <a:ext cx="3577375" cy="235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69" y="2216625"/>
            <a:ext cx="3175231" cy="235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5 Makes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1152475"/>
            <a:ext cx="3257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</a:t>
            </a:r>
            <a:br>
              <a:rPr lang="iw"/>
            </a:br>
            <a:r>
              <a:rPr lang="iw"/>
              <a:t>TESLA is the top Make in the dataset by a large margin, </a:t>
            </a:r>
            <a:br>
              <a:rPr lang="iw"/>
            </a:br>
            <a:r>
              <a:rPr lang="iw"/>
              <a:t>followed by CHEVROLET </a:t>
            </a:r>
            <a:br>
              <a:rPr lang="iw"/>
            </a:br>
            <a:r>
              <a:rPr lang="iw"/>
              <a:t>and NISSAN.</a:t>
            </a:r>
            <a:endParaRPr/>
          </a:p>
        </p:txBody>
      </p:sp>
      <p:pic>
        <p:nvPicPr>
          <p:cNvPr id="154" name="Google Shape;15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9148" y="1017725"/>
            <a:ext cx="5476824" cy="407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5 Models</a:t>
            </a:r>
            <a:endParaRPr/>
          </a:p>
        </p:txBody>
      </p:sp>
      <p:sp>
        <p:nvSpPr>
          <p:cNvPr id="160" name="Google Shape;160;p27"/>
          <p:cNvSpPr txBox="1"/>
          <p:nvPr>
            <p:ph idx="1" type="body"/>
          </p:nvPr>
        </p:nvSpPr>
        <p:spPr>
          <a:xfrm>
            <a:off x="311700" y="1152475"/>
            <a:ext cx="2975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The top models are Model Y and 3 of TESLA followed by Leaf of Nissan.</a:t>
            </a:r>
            <a:endParaRPr/>
          </a:p>
        </p:txBody>
      </p:sp>
      <p:pic>
        <p:nvPicPr>
          <p:cNvPr id="161" name="Google Shape;16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86800" y="1289500"/>
            <a:ext cx="5525524" cy="327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Models per Make (top 3 Make)</a:t>
            </a:r>
            <a:endParaRPr/>
          </a:p>
        </p:txBody>
      </p:sp>
      <p:sp>
        <p:nvSpPr>
          <p:cNvPr id="167" name="Google Shape;167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48.7% of Tesla Models are the Model 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42.5% of CHEVROLET Models are BOLT EV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88.9% of NISSAN models are LEAF.</a:t>
            </a:r>
            <a:endParaRPr/>
          </a:p>
        </p:txBody>
      </p:sp>
      <p:pic>
        <p:nvPicPr>
          <p:cNvPr id="168" name="Google Shape;16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48550" y="2645095"/>
            <a:ext cx="2492025" cy="2487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6425" y="2664087"/>
            <a:ext cx="2492025" cy="247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00675" y="2634500"/>
            <a:ext cx="2492025" cy="250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Makes in </a:t>
            </a:r>
            <a:r>
              <a:rPr lang="iw"/>
              <a:t>WA Counties</a:t>
            </a:r>
            <a:endParaRPr/>
          </a:p>
        </p:txBody>
      </p:sp>
      <p:sp>
        <p:nvSpPr>
          <p:cNvPr id="176" name="Google Shape;176;p29"/>
          <p:cNvSpPr txBox="1"/>
          <p:nvPr>
            <p:ph idx="1" type="body"/>
          </p:nvPr>
        </p:nvSpPr>
        <p:spPr>
          <a:xfrm>
            <a:off x="311700" y="1152475"/>
            <a:ext cx="5085900" cy="9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iw" sz="1520"/>
              <a:t>Conclusion: </a:t>
            </a:r>
            <a:r>
              <a:rPr lang="iw" sz="1520"/>
              <a:t>TESLA is leading in the top 10 counties and in 95% of all counties in Washington (WA)</a:t>
            </a:r>
            <a:endParaRPr sz="1620"/>
          </a:p>
        </p:txBody>
      </p:sp>
      <p:pic>
        <p:nvPicPr>
          <p:cNvPr id="177" name="Google Shape;17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2525" y="524825"/>
            <a:ext cx="2110775" cy="36507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512575" y="1754325"/>
            <a:ext cx="3270300" cy="13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iw" sz="1320"/>
              <a:t>And the only county TESLA isn’t in the lead is Garfield</a:t>
            </a:r>
            <a:endParaRPr sz="1420"/>
          </a:p>
        </p:txBody>
      </p:sp>
      <p:pic>
        <p:nvPicPr>
          <p:cNvPr id="179" name="Google Shape;179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20425" y="2352679"/>
            <a:ext cx="1721708" cy="134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1754322"/>
            <a:ext cx="3200887" cy="338917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562400" y="3697500"/>
            <a:ext cx="3270300" cy="72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iw" sz="1300"/>
              <a:t>And that TESLA is actually tied with FORD in Columbia</a:t>
            </a:r>
            <a:endParaRPr sz="1420"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16824" y="4175605"/>
            <a:ext cx="1528900" cy="9719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WA Counties</a:t>
            </a:r>
            <a:endParaRPr/>
          </a:p>
        </p:txBody>
      </p:sp>
      <p:sp>
        <p:nvSpPr>
          <p:cNvPr id="188" name="Google Shape;188;p30"/>
          <p:cNvSpPr txBox="1"/>
          <p:nvPr>
            <p:ph idx="1" type="body"/>
          </p:nvPr>
        </p:nvSpPr>
        <p:spPr>
          <a:xfrm>
            <a:off x="311700" y="1152475"/>
            <a:ext cx="6105600" cy="8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500"/>
              <a:t>Conclusion: </a:t>
            </a:r>
            <a:r>
              <a:rPr lang="iw" sz="1500"/>
              <a:t>The Model Y is the most popular in the top 10 counties and is the top model in 59% of all counties </a:t>
            </a:r>
            <a:r>
              <a:rPr lang="iw" sz="1500"/>
              <a:t>in Washington (WA)</a:t>
            </a:r>
            <a:r>
              <a:rPr lang="iw" sz="1500"/>
              <a:t>.</a:t>
            </a:r>
            <a:endParaRPr sz="1500"/>
          </a:p>
        </p:txBody>
      </p:sp>
      <p:pic>
        <p:nvPicPr>
          <p:cNvPr id="189" name="Google Shape;18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3225" y="1522624"/>
            <a:ext cx="2770775" cy="362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7275" y="2058925"/>
            <a:ext cx="3692149" cy="281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Amount of Top 3 Make of each CAFV Eligibility</a:t>
            </a:r>
            <a:endParaRPr/>
          </a:p>
        </p:txBody>
      </p:sp>
      <p:sp>
        <p:nvSpPr>
          <p:cNvPr id="196" name="Google Shape;196;p31"/>
          <p:cNvSpPr txBox="1"/>
          <p:nvPr>
            <p:ph idx="1" type="body"/>
          </p:nvPr>
        </p:nvSpPr>
        <p:spPr>
          <a:xfrm>
            <a:off x="311700" y="941525"/>
            <a:ext cx="4683600" cy="15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1600"/>
              <a:t>Conclusion: 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iw" sz="1600"/>
              <a:t>Most unknown </a:t>
            </a:r>
            <a:r>
              <a:rPr lang="iw" sz="1600"/>
              <a:t>eligibility</a:t>
            </a:r>
            <a:r>
              <a:rPr lang="iw" sz="1600"/>
              <a:t> are TESLA vehicles.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w" sz="1600"/>
              <a:t>Most eligible vehicles are by Tesla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w" sz="1600"/>
              <a:t>Most not eligible vehicles are by Jeep</a:t>
            </a:r>
            <a:endParaRPr sz="1600"/>
          </a:p>
        </p:txBody>
      </p:sp>
      <p:pic>
        <p:nvPicPr>
          <p:cNvPr id="197" name="Google Shape;19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1050" y="2262825"/>
            <a:ext cx="4852949" cy="288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Mean of Top 3 Make of each CAFV Eligibility</a:t>
            </a:r>
            <a:endParaRPr/>
          </a:p>
        </p:txBody>
      </p:sp>
      <p:sp>
        <p:nvSpPr>
          <p:cNvPr id="203" name="Google Shape;203;p32"/>
          <p:cNvSpPr txBox="1"/>
          <p:nvPr>
            <p:ph idx="1" type="body"/>
          </p:nvPr>
        </p:nvSpPr>
        <p:spPr>
          <a:xfrm>
            <a:off x="0" y="1017725"/>
            <a:ext cx="3024600" cy="400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 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TESLA has the highest mean of Electric Range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Unknown </a:t>
            </a:r>
            <a:r>
              <a:rPr lang="iw"/>
              <a:t>eligibility</a:t>
            </a:r>
            <a:r>
              <a:rPr lang="iw"/>
              <a:t> has no known electric range.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Low battery not eligibility vehicles have lower electric range than </a:t>
            </a:r>
            <a:r>
              <a:rPr lang="iw"/>
              <a:t>eligible </a:t>
            </a:r>
            <a:r>
              <a:rPr lang="iw"/>
              <a:t>vehicles</a:t>
            </a:r>
            <a:endParaRPr/>
          </a:p>
        </p:txBody>
      </p:sp>
      <p:pic>
        <p:nvPicPr>
          <p:cNvPr id="204" name="Google Shape;20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4523" y="1420348"/>
            <a:ext cx="6119475" cy="37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each eligibility category - CAFV Eligible</a:t>
            </a:r>
            <a:endParaRPr/>
          </a:p>
        </p:txBody>
      </p:sp>
      <p:sp>
        <p:nvSpPr>
          <p:cNvPr id="210" name="Google Shape;210;p33"/>
          <p:cNvSpPr txBox="1"/>
          <p:nvPr>
            <p:ph idx="1" type="body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iw" sz="1629"/>
              <a:t>Conclusion</a:t>
            </a:r>
            <a:r>
              <a:rPr lang="iw" sz="1629"/>
              <a:t>: The Tesla Model 3 is the top model that is Eligible with close to 14 thousands vehicles, followed by the Nissan Leaf with ~10 </a:t>
            </a:r>
            <a:r>
              <a:rPr lang="iw" sz="1629"/>
              <a:t>thousands vehicles</a:t>
            </a:r>
            <a:endParaRPr sz="1629"/>
          </a:p>
        </p:txBody>
      </p:sp>
      <p:pic>
        <p:nvPicPr>
          <p:cNvPr id="211" name="Google Shape;211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7900" y="1873050"/>
            <a:ext cx="6497150" cy="320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650"/>
              <a:t>Top models in each eligibility category - </a:t>
            </a:r>
            <a:r>
              <a:rPr lang="iw" sz="2133"/>
              <a:t>CAFV eligibility unknown</a:t>
            </a:r>
            <a:endParaRPr sz="2133"/>
          </a:p>
        </p:txBody>
      </p:sp>
      <p:sp>
        <p:nvSpPr>
          <p:cNvPr id="217" name="Google Shape;217;p34"/>
          <p:cNvSpPr txBox="1"/>
          <p:nvPr>
            <p:ph idx="1" type="body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The Tesla Model Y is the model that leads followed by the Model 3</a:t>
            </a:r>
            <a:endParaRPr/>
          </a:p>
        </p:txBody>
      </p:sp>
      <p:pic>
        <p:nvPicPr>
          <p:cNvPr id="218" name="Google Shape;21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9449" y="1747750"/>
            <a:ext cx="6884549" cy="339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each eligibility category - Not CAFV eligible</a:t>
            </a:r>
            <a:endParaRPr/>
          </a:p>
        </p:txBody>
      </p:sp>
      <p:sp>
        <p:nvSpPr>
          <p:cNvPr id="224" name="Google Shape;224;p35"/>
          <p:cNvSpPr txBox="1"/>
          <p:nvPr>
            <p:ph idx="1" type="body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The JEEP Wrangler is the top model that is not eligible with over 4 thousands vehicles, followed by the Toyota Prius Prime with ~3600 vehicles</a:t>
            </a:r>
            <a:endParaRPr/>
          </a:p>
        </p:txBody>
      </p:sp>
      <p:pic>
        <p:nvPicPr>
          <p:cNvPr id="225" name="Google Shape;225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4274" y="1804375"/>
            <a:ext cx="6769724" cy="333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445025"/>
            <a:ext cx="8520600" cy="33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 sz="7600"/>
              <a:t>THANKS FOR LISTENING</a:t>
            </a:r>
            <a:endParaRPr sz="7600"/>
          </a:p>
        </p:txBody>
      </p:sp>
      <p:pic>
        <p:nvPicPr>
          <p:cNvPr id="231" name="Google Shape;231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