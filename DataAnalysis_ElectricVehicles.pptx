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24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22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3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</p:sldIdLst>
  <p:sldSz cy="5143500" cx="9144000"/>
  <p:notesSz cx="6858000" cy="9144000"/>
  <p:embeddedFontLst>
    <p:embeddedFont>
      <p:font typeface="Roboto"/>
      <p:regular r:id="rId31"/>
      <p:bold r:id="rId32"/>
      <p:italic r:id="rId33"/>
      <p:boldItalic r:id="rId34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3E0DA135-1A3A-443B-B8BA-B909F35A611B}">
  <a:tblStyle styleId="{3E0DA135-1A3A-443B-B8BA-B909F35A611B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4.xml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26" Type="http://schemas.openxmlformats.org/officeDocument/2006/relationships/slide" Target="slides/slide20.xml"/><Relationship Id="rId25" Type="http://schemas.openxmlformats.org/officeDocument/2006/relationships/slide" Target="slides/slide19.xml"/><Relationship Id="rId28" Type="http://schemas.openxmlformats.org/officeDocument/2006/relationships/slide" Target="slides/slide22.xml"/><Relationship Id="rId27" Type="http://schemas.openxmlformats.org/officeDocument/2006/relationships/slide" Target="slides/slide21.xml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29" Type="http://schemas.openxmlformats.org/officeDocument/2006/relationships/slide" Target="slides/slide23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font" Target="fonts/Roboto-regular.fntdata"/><Relationship Id="rId30" Type="http://schemas.openxmlformats.org/officeDocument/2006/relationships/slide" Target="slides/slide24.xml"/><Relationship Id="rId11" Type="http://schemas.openxmlformats.org/officeDocument/2006/relationships/slide" Target="slides/slide5.xml"/><Relationship Id="rId33" Type="http://schemas.openxmlformats.org/officeDocument/2006/relationships/font" Target="fonts/Roboto-italic.fntdata"/><Relationship Id="rId10" Type="http://schemas.openxmlformats.org/officeDocument/2006/relationships/slide" Target="slides/slide4.xml"/><Relationship Id="rId32" Type="http://schemas.openxmlformats.org/officeDocument/2006/relationships/font" Target="fonts/Roboto-bold.fntdata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34" Type="http://schemas.openxmlformats.org/officeDocument/2006/relationships/font" Target="fonts/Roboto-boldItalic.fntdata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g35da4827f45_0_14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1" name="Google Shape;61;g35da4827f45_0_1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35da4827f45_0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" name="Google Shape;70;g35da4827f45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g35da4827f45_0_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7" name="Google Shape;77;g35da4827f45_0_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g35da4827f45_0_4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3" name="Google Shape;83;g35da4827f45_0_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g35da4827f45_0_6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9" name="Google Shape;89;g35da4827f45_0_6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g35da4827f45_0_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6" name="Google Shape;96;g35da4827f45_0_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g35da4827f45_2_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4" name="Google Shape;104;g35da4827f45_2_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g35da4827f45_0_6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1" name="Google Shape;111;g35da4827f45_0_6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g35da4827f45_0_8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0" name="Google Shape;120;g35da4827f45_0_8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g35da4827f45_0_7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8" name="Google Shape;128;g35da4827f45_0_7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g35da4827f45_0_8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5" name="Google Shape;135;g35da4827f45_0_8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g35da4827f45_0_18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2" name="Google Shape;142;g35da4827f45_0_18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g35da4827f45_0_1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0" name="Google Shape;150;g35da4827f45_0_1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g35da4827f45_0_12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7" name="Google Shape;157;g35da4827f45_0_1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g35da4827f45_0_10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4" name="Google Shape;164;g35da4827f45_0_10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g35da4827f45_0_13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3" name="Google Shape;173;g35da4827f45_0_1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g35da4827f45_0_13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5" name="Google Shape;185;g35da4827f45_0_1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g35da4827f45_0_16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3" name="Google Shape;193;g35da4827f45_0_16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g35da4827f45_0_16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0" name="Google Shape;200;g35da4827f45_0_16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g35da4827f45_0_9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7" name="Google Shape;207;g35da4827f45_0_9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g35da4827f45_2_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4" name="Google Shape;214;g35da4827f45_2_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g35da4827f45_2_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1" name="Google Shape;221;g35da4827f45_2_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g35da4827f45_0_15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8" name="Google Shape;228;g35da4827f45_0_15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w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gradFill>
          <a:gsLst>
            <a:gs pos="0">
              <a:srgbClr val="C9DAF8"/>
            </a:gs>
            <a:gs pos="100000">
              <a:schemeClr val="lt1"/>
            </a:gs>
          </a:gsLst>
          <a:lin ang="5400012" scaled="0"/>
        </a:gra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w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7.png"/><Relationship Id="rId4" Type="http://schemas.openxmlformats.org/officeDocument/2006/relationships/hyperlink" Target="https://github.com/shachar700/DataAnalysis_ElectricVehicles" TargetMode="External"/><Relationship Id="rId5" Type="http://schemas.openxmlformats.org/officeDocument/2006/relationships/hyperlink" Target="https://colab.research.google.com/drive/1IZluGjST-g406fcuba5vIkrgK7rjw2uS?usp=sharing" TargetMode="Externa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4.png"/><Relationship Id="rId4" Type="http://schemas.openxmlformats.org/officeDocument/2006/relationships/image" Target="../media/image2.jp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hyperlink" Target="https://catalog.data.gov/dataset/electric-vehicle-population-data" TargetMode="External"/><Relationship Id="rId4" Type="http://schemas.openxmlformats.org/officeDocument/2006/relationships/image" Target="../media/image7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5.png"/><Relationship Id="rId4" Type="http://schemas.openxmlformats.org/officeDocument/2006/relationships/image" Target="../media/image5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1.png"/><Relationship Id="rId4" Type="http://schemas.openxmlformats.org/officeDocument/2006/relationships/image" Target="../media/image8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25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9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6.png"/><Relationship Id="rId4" Type="http://schemas.openxmlformats.org/officeDocument/2006/relationships/image" Target="../media/image13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23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3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8.png"/><Relationship Id="rId4" Type="http://schemas.openxmlformats.org/officeDocument/2006/relationships/image" Target="../media/image4.png"/><Relationship Id="rId5" Type="http://schemas.openxmlformats.org/officeDocument/2006/relationships/image" Target="../media/image10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7.png"/><Relationship Id="rId4" Type="http://schemas.openxmlformats.org/officeDocument/2006/relationships/image" Target="../media/image16.png"/><Relationship Id="rId5" Type="http://schemas.openxmlformats.org/officeDocument/2006/relationships/image" Target="../media/image19.png"/><Relationship Id="rId6" Type="http://schemas.openxmlformats.org/officeDocument/2006/relationships/image" Target="../media/image20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24.png"/><Relationship Id="rId4" Type="http://schemas.openxmlformats.org/officeDocument/2006/relationships/image" Target="../media/image27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22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26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28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29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30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iw"/>
              <a:t>Data Analysis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iw"/>
              <a:t>Electric Vehicles</a:t>
            </a:r>
            <a:endParaRPr/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85000" lnSpcReduction="2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iw"/>
              <a:t>Shahar Berenson	208608414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iw"/>
              <a:t>Shlomi </a:t>
            </a:r>
            <a:r>
              <a:rPr lang="iw"/>
              <a:t>Fridman</a:t>
            </a:r>
            <a:r>
              <a:rPr lang="iw"/>
              <a:t>		318187002</a:t>
            </a:r>
            <a:endParaRPr/>
          </a:p>
        </p:txBody>
      </p:sp>
      <p:pic>
        <p:nvPicPr>
          <p:cNvPr id="56" name="Google Shape;56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398510">
            <a:off x="0" y="3912572"/>
            <a:ext cx="4572001" cy="1230927"/>
          </a:xfrm>
          <a:prstGeom prst="rect">
            <a:avLst/>
          </a:prstGeom>
          <a:noFill/>
          <a:ln>
            <a:noFill/>
          </a:ln>
        </p:spPr>
      </p:pic>
      <p:sp>
        <p:nvSpPr>
          <p:cNvPr id="57" name="Google Shape;57;p13"/>
          <p:cNvSpPr txBox="1"/>
          <p:nvPr/>
        </p:nvSpPr>
        <p:spPr>
          <a:xfrm>
            <a:off x="4101000" y="3988300"/>
            <a:ext cx="942000" cy="3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w" sz="1800" u="sng">
                <a:solidFill>
                  <a:schemeClr val="hlink"/>
                </a:solidFill>
                <a:hlinkClick r:id="rId4"/>
              </a:rPr>
              <a:t>GitHub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58" name="Google Shape;58;p13"/>
          <p:cNvSpPr txBox="1"/>
          <p:nvPr/>
        </p:nvSpPr>
        <p:spPr>
          <a:xfrm>
            <a:off x="3931050" y="4376650"/>
            <a:ext cx="1281900" cy="3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w" sz="1800" u="sng">
                <a:solidFill>
                  <a:schemeClr val="hlink"/>
                </a:solidFill>
                <a:hlinkClick r:id="rId5"/>
              </a:rPr>
              <a:t>Notebook</a:t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4"/>
          <p:cNvSpPr txBox="1"/>
          <p:nvPr>
            <p:ph idx="4294967295" type="title"/>
          </p:nvPr>
        </p:nvSpPr>
        <p:spPr>
          <a:xfrm>
            <a:off x="311700" y="445025"/>
            <a:ext cx="18987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15000"/>
              </a:lnSpc>
              <a:spcBef>
                <a:spcPts val="2400"/>
              </a:spcBef>
              <a:spcAft>
                <a:spcPts val="0"/>
              </a:spcAft>
              <a:buNone/>
            </a:pPr>
            <a:r>
              <a:rPr lang="iw"/>
              <a:t>Members</a:t>
            </a:r>
            <a:endParaRPr b="1" sz="2300"/>
          </a:p>
          <a:p>
            <a:pPr indent="0" lvl="0" marL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" name="Google Shape;64;p14"/>
          <p:cNvSpPr txBox="1"/>
          <p:nvPr>
            <p:ph idx="4294967295" type="body"/>
          </p:nvPr>
        </p:nvSpPr>
        <p:spPr>
          <a:xfrm>
            <a:off x="808700" y="4624400"/>
            <a:ext cx="3629100" cy="486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1200"/>
              </a:spcAft>
              <a:buNone/>
            </a:pPr>
            <a:r>
              <a:rPr lang="iw"/>
              <a:t>Shahar Berenson</a:t>
            </a:r>
            <a:endParaRPr/>
          </a:p>
        </p:txBody>
      </p:sp>
      <p:pic>
        <p:nvPicPr>
          <p:cNvPr id="65" name="Google Shape;65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08788" y="976313"/>
            <a:ext cx="3629025" cy="3648075"/>
          </a:xfrm>
          <a:prstGeom prst="rect">
            <a:avLst/>
          </a:prstGeom>
          <a:noFill/>
          <a:ln>
            <a:noFill/>
          </a:ln>
        </p:spPr>
      </p:pic>
      <p:sp>
        <p:nvSpPr>
          <p:cNvPr id="66" name="Google Shape;66;p14"/>
          <p:cNvSpPr txBox="1"/>
          <p:nvPr>
            <p:ph idx="4294967295" type="body"/>
          </p:nvPr>
        </p:nvSpPr>
        <p:spPr>
          <a:xfrm>
            <a:off x="4870888" y="4624400"/>
            <a:ext cx="3629100" cy="486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1200"/>
              </a:spcAft>
              <a:buNone/>
            </a:pPr>
            <a:r>
              <a:rPr lang="iw"/>
              <a:t>Shlomi Fridman</a:t>
            </a:r>
            <a:endParaRPr/>
          </a:p>
        </p:txBody>
      </p:sp>
      <p:pic>
        <p:nvPicPr>
          <p:cNvPr id="67" name="Google Shape;67;p14" title="file.jp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870900" y="985800"/>
            <a:ext cx="3629100" cy="3629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w"/>
              <a:t>Introduction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ct val="47826"/>
              <a:buFont typeface="Arial"/>
              <a:buNone/>
            </a:pPr>
            <a:r>
              <a:rPr b="1" lang="iw" sz="2300"/>
              <a:t>Electric Vehicle Population Data</a:t>
            </a:r>
            <a:endParaRPr b="1" sz="2300"/>
          </a:p>
          <a:p>
            <a:pPr indent="0" lvl="0" marL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" name="Google Shape;73;p15"/>
          <p:cNvSpPr txBox="1"/>
          <p:nvPr>
            <p:ph idx="1" type="body"/>
          </p:nvPr>
        </p:nvSpPr>
        <p:spPr>
          <a:xfrm>
            <a:off x="311700" y="1613400"/>
            <a:ext cx="8520600" cy="2955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w"/>
              <a:t>This dataset shows the Battery Electric Vehicles (BEVs) and Plug-in Hybrid Electric Vehicles (PHEVs) that are currently registered through Washington State Department of Licensing (DOL).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iw" u="sng">
                <a:solidFill>
                  <a:schemeClr val="hlink"/>
                </a:solidFill>
                <a:hlinkClick r:id="rId3"/>
              </a:rPr>
              <a:t>Source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iw"/>
              <a:t>metadata: May 17th 2025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iw"/>
              <a:t>246,138 rows x </a:t>
            </a:r>
            <a:r>
              <a:rPr lang="iw"/>
              <a:t>17 columns</a:t>
            </a:r>
            <a:endParaRPr/>
          </a:p>
        </p:txBody>
      </p:sp>
      <p:pic>
        <p:nvPicPr>
          <p:cNvPr id="74" name="Google Shape;74;p1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398510">
            <a:off x="0" y="3912572"/>
            <a:ext cx="4572001" cy="123092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6"/>
          <p:cNvSpPr txBox="1"/>
          <p:nvPr>
            <p:ph type="title"/>
          </p:nvPr>
        </p:nvSpPr>
        <p:spPr>
          <a:xfrm>
            <a:off x="311700" y="15927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w"/>
              <a:t>Features (1)</a:t>
            </a:r>
            <a:endParaRPr/>
          </a:p>
        </p:txBody>
      </p:sp>
      <p:graphicFrame>
        <p:nvGraphicFramePr>
          <p:cNvPr id="80" name="Google Shape;80;p16"/>
          <p:cNvGraphicFramePr/>
          <p:nvPr/>
        </p:nvGraphicFramePr>
        <p:xfrm>
          <a:off x="311700" y="7891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{3E0DA135-1A3A-443B-B8BA-B909F35A611B}</a:tableStyleId>
              </a:tblPr>
              <a:tblGrid>
                <a:gridCol w="2019075"/>
                <a:gridCol w="5219925"/>
              </a:tblGrid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iw"/>
                        <a:t>Feature</a:t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iw"/>
                        <a:t>Description</a:t>
                      </a:r>
                      <a:endParaRPr b="1"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iw" sz="1200">
                          <a:solidFill>
                            <a:srgbClr val="1F1F1F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VIN (1-10)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iw" sz="1200">
                          <a:solidFill>
                            <a:srgbClr val="1F1F1F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First 10 characters of the Vehicle Identification Number.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w" sz="1200">
                          <a:solidFill>
                            <a:srgbClr val="1F1F1F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County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w" sz="1200">
                          <a:solidFill>
                            <a:srgbClr val="1F1F1F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The county where the vehicle is registered or located.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w" sz="1200">
                          <a:solidFill>
                            <a:srgbClr val="1F1F1F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City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w" sz="1200">
                          <a:solidFill>
                            <a:srgbClr val="1F1F1F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The city where the vehicle is registered or located.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w" sz="1200">
                          <a:solidFill>
                            <a:srgbClr val="1F1F1F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State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w" sz="1200">
                          <a:solidFill>
                            <a:srgbClr val="1F1F1F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The U.S. state abbreviation (e.g., WA for Washington).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w" sz="1200">
                          <a:solidFill>
                            <a:srgbClr val="1F1F1F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Postal Code</a:t>
                      </a:r>
                      <a:endParaRPr sz="1200">
                        <a:solidFill>
                          <a:srgbClr val="1F1F1F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w" sz="1200">
                          <a:solidFill>
                            <a:srgbClr val="1F1F1F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ZIP/postal code of the vehicle's location.</a:t>
                      </a:r>
                      <a:endParaRPr sz="1200">
                        <a:solidFill>
                          <a:srgbClr val="1F1F1F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w" sz="1200">
                          <a:solidFill>
                            <a:srgbClr val="1F1F1F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Model Year</a:t>
                      </a:r>
                      <a:endParaRPr sz="1200">
                        <a:solidFill>
                          <a:srgbClr val="1F1F1F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w" sz="1200">
                          <a:solidFill>
                            <a:srgbClr val="1F1F1F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The year the vehicle was manufactured.</a:t>
                      </a:r>
                      <a:endParaRPr sz="1200">
                        <a:solidFill>
                          <a:srgbClr val="1F1F1F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w" sz="1200">
                          <a:solidFill>
                            <a:srgbClr val="1F1F1F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Make</a:t>
                      </a:r>
                      <a:endParaRPr sz="1200">
                        <a:solidFill>
                          <a:srgbClr val="1F1F1F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w" sz="1200">
                          <a:solidFill>
                            <a:srgbClr val="1F1F1F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The manufacturer (e.g., Tesla, Nissan).</a:t>
                      </a:r>
                      <a:endParaRPr sz="1200">
                        <a:solidFill>
                          <a:srgbClr val="1F1F1F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w" sz="1200">
                          <a:solidFill>
                            <a:srgbClr val="1F1F1F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Model</a:t>
                      </a:r>
                      <a:endParaRPr sz="1200">
                        <a:solidFill>
                          <a:srgbClr val="1F1F1F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w" sz="1200">
                          <a:solidFill>
                            <a:srgbClr val="1F1F1F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The specific model of the car (e.g., Model 3, Leaf).</a:t>
                      </a:r>
                      <a:endParaRPr sz="1200">
                        <a:solidFill>
                          <a:srgbClr val="1F1F1F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w" sz="1200">
                          <a:solidFill>
                            <a:srgbClr val="1F1F1F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Electric Vehicle Type</a:t>
                      </a:r>
                      <a:endParaRPr sz="1200">
                        <a:solidFill>
                          <a:srgbClr val="1F1F1F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w" sz="1200">
                          <a:solidFill>
                            <a:srgbClr val="1F1F1F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Type of EV (Battery Electric Vehicle (BEV), Plug-in Hybrid Electric Vehicle (PHEV)).</a:t>
                      </a:r>
                      <a:endParaRPr sz="1200">
                        <a:solidFill>
                          <a:srgbClr val="1F1F1F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7"/>
          <p:cNvSpPr txBox="1"/>
          <p:nvPr>
            <p:ph type="title"/>
          </p:nvPr>
        </p:nvSpPr>
        <p:spPr>
          <a:xfrm>
            <a:off x="311700" y="15927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w"/>
              <a:t>Features (2)</a:t>
            </a:r>
            <a:endParaRPr/>
          </a:p>
        </p:txBody>
      </p:sp>
      <p:graphicFrame>
        <p:nvGraphicFramePr>
          <p:cNvPr id="86" name="Google Shape;86;p17"/>
          <p:cNvGraphicFramePr/>
          <p:nvPr/>
        </p:nvGraphicFramePr>
        <p:xfrm>
          <a:off x="311700" y="7891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{3E0DA135-1A3A-443B-B8BA-B909F35A611B}</a:tableStyleId>
              </a:tblPr>
              <a:tblGrid>
                <a:gridCol w="2019050"/>
                <a:gridCol w="5219950"/>
              </a:tblGrid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iw"/>
                        <a:t>Feature</a:t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iw"/>
                        <a:t>Description</a:t>
                      </a:r>
                      <a:endParaRPr b="1"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w" sz="1200">
                          <a:solidFill>
                            <a:srgbClr val="1F1F1F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Clean Alternative Fuel Vehicle (CAFV) Eligibility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w" sz="1200">
                          <a:solidFill>
                            <a:srgbClr val="1F1F1F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Indicates whether the vehicle qualifies under CAFV rules.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w" sz="1200">
                          <a:solidFill>
                            <a:srgbClr val="1F1F1F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Electric Range</a:t>
                      </a:r>
                      <a:endParaRPr sz="1200">
                        <a:solidFill>
                          <a:srgbClr val="1F1F1F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w" sz="1200">
                          <a:solidFill>
                            <a:srgbClr val="1F1F1F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How many miles the vehicle can travel on electricity alone.</a:t>
                      </a:r>
                      <a:endParaRPr sz="1200">
                        <a:solidFill>
                          <a:srgbClr val="1F1F1F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w" sz="1200">
                          <a:solidFill>
                            <a:srgbClr val="1F1F1F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Base MSRP</a:t>
                      </a:r>
                      <a:endParaRPr sz="1200">
                        <a:solidFill>
                          <a:srgbClr val="1F1F1F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w" sz="1200">
                          <a:solidFill>
                            <a:srgbClr val="1F1F1F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Manufacturer's Suggested Retail Price at base level (starting price).</a:t>
                      </a:r>
                      <a:endParaRPr sz="1200">
                        <a:solidFill>
                          <a:srgbClr val="1F1F1F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w" sz="1200">
                          <a:solidFill>
                            <a:srgbClr val="1F1F1F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Legislative District</a:t>
                      </a:r>
                      <a:endParaRPr sz="1200">
                        <a:solidFill>
                          <a:srgbClr val="1F1F1F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w" sz="1200">
                          <a:solidFill>
                            <a:srgbClr val="1F1F1F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Legislative district associated with the vehicle's location.</a:t>
                      </a:r>
                      <a:endParaRPr sz="1200">
                        <a:solidFill>
                          <a:srgbClr val="1F1F1F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w" sz="1200">
                          <a:solidFill>
                            <a:srgbClr val="1F1F1F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DOL Vehicle ID</a:t>
                      </a:r>
                      <a:endParaRPr sz="1200">
                        <a:solidFill>
                          <a:srgbClr val="1F1F1F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w" sz="1200">
                          <a:solidFill>
                            <a:srgbClr val="1F1F1F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Department of Licensing Vehicle ID (state-assigned).</a:t>
                      </a:r>
                      <a:endParaRPr sz="1200">
                        <a:solidFill>
                          <a:srgbClr val="1F1F1F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w" sz="1200">
                          <a:solidFill>
                            <a:srgbClr val="1F1F1F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Vehicle Location</a:t>
                      </a:r>
                      <a:endParaRPr sz="1200">
                        <a:solidFill>
                          <a:srgbClr val="1F1F1F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w" sz="1200">
                          <a:solidFill>
                            <a:srgbClr val="1F1F1F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More detailed info about where the vehicle is located.</a:t>
                      </a:r>
                      <a:endParaRPr sz="1200">
                        <a:solidFill>
                          <a:srgbClr val="1F1F1F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w" sz="1200">
                          <a:solidFill>
                            <a:srgbClr val="1F1F1F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Electric Utility</a:t>
                      </a:r>
                      <a:endParaRPr sz="1200">
                        <a:solidFill>
                          <a:srgbClr val="1F1F1F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w" sz="1200">
                          <a:solidFill>
                            <a:srgbClr val="1F1F1F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The electric company servicing that area.</a:t>
                      </a:r>
                      <a:endParaRPr sz="1200">
                        <a:solidFill>
                          <a:srgbClr val="1F1F1F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w" sz="1200">
                          <a:solidFill>
                            <a:srgbClr val="1F1F1F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2020 Census Tract</a:t>
                      </a:r>
                      <a:endParaRPr sz="1200">
                        <a:solidFill>
                          <a:srgbClr val="1F1F1F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w" sz="1200">
                          <a:solidFill>
                            <a:srgbClr val="1F1F1F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Census tract identifier from the 2020 census (used for demographic/geographic analysis).</a:t>
                      </a:r>
                      <a:endParaRPr sz="1200">
                        <a:solidFill>
                          <a:srgbClr val="1F1F1F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w"/>
              <a:t>Dropped Features</a:t>
            </a:r>
            <a:endParaRPr/>
          </a:p>
        </p:txBody>
      </p:sp>
      <p:sp>
        <p:nvSpPr>
          <p:cNvPr id="92" name="Google Shape;92;p1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w"/>
              <a:t>We didn’t find interesting details about the following features, so we chose to drop them: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-"/>
            </a:pPr>
            <a:r>
              <a:rPr lang="iw"/>
              <a:t>Base MSRP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iw"/>
              <a:t>Vehicle Location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iw"/>
              <a:t>DOL Vehicle ID 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iw"/>
              <a:t>2020 Census Tract</a:t>
            </a:r>
            <a:endParaRPr/>
          </a:p>
        </p:txBody>
      </p:sp>
      <p:pic>
        <p:nvPicPr>
          <p:cNvPr id="93" name="Google Shape;93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76025" y="4206000"/>
            <a:ext cx="8520601" cy="68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w"/>
              <a:t>Missing Values</a:t>
            </a:r>
            <a:endParaRPr/>
          </a:p>
        </p:txBody>
      </p:sp>
      <p:sp>
        <p:nvSpPr>
          <p:cNvPr id="99" name="Google Shape;99;p19"/>
          <p:cNvSpPr txBox="1"/>
          <p:nvPr>
            <p:ph idx="1" type="body"/>
          </p:nvPr>
        </p:nvSpPr>
        <p:spPr>
          <a:xfrm>
            <a:off x="311700" y="1152475"/>
            <a:ext cx="5132700" cy="2811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w"/>
              <a:t>The only missing values we cared about were the County and City values, thus we chose to drop those rows.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iw"/>
              <a:t>The missing values in Electric Range and Base MSRP were indication that the data was unknown, which we used in </a:t>
            </a:r>
            <a:r>
              <a:rPr lang="iw"/>
              <a:t>statistics later on</a:t>
            </a:r>
            <a:endParaRPr/>
          </a:p>
        </p:txBody>
      </p:sp>
      <p:pic>
        <p:nvPicPr>
          <p:cNvPr id="100" name="Google Shape;100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984075" y="109575"/>
            <a:ext cx="2783725" cy="4131699"/>
          </a:xfrm>
          <a:prstGeom prst="rect">
            <a:avLst/>
          </a:prstGeom>
          <a:noFill/>
          <a:ln>
            <a:noFill/>
          </a:ln>
        </p:spPr>
      </p:pic>
      <p:pic>
        <p:nvPicPr>
          <p:cNvPr id="101" name="Google Shape;101;p1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7575" y="4310650"/>
            <a:ext cx="8934252" cy="7218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2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w"/>
              <a:t>Questions</a:t>
            </a:r>
            <a:endParaRPr/>
          </a:p>
        </p:txBody>
      </p:sp>
      <p:sp>
        <p:nvSpPr>
          <p:cNvPr id="107" name="Google Shape;107;p20"/>
          <p:cNvSpPr txBox="1"/>
          <p:nvPr>
            <p:ph idx="1" type="body"/>
          </p:nvPr>
        </p:nvSpPr>
        <p:spPr>
          <a:xfrm>
            <a:off x="311700" y="1152475"/>
            <a:ext cx="8520600" cy="3990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w"/>
              <a:t>The questions we’ve had about the dataset were: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Clr>
                <a:srgbClr val="38761D"/>
              </a:buClr>
              <a:buSzPts val="1800"/>
              <a:buChar char="●"/>
            </a:pPr>
            <a:r>
              <a:rPr lang="iw">
                <a:solidFill>
                  <a:srgbClr val="38761D"/>
                </a:solidFill>
              </a:rPr>
              <a:t>Vehicles per State</a:t>
            </a:r>
            <a:endParaRPr>
              <a:solidFill>
                <a:srgbClr val="38761D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38761D"/>
              </a:buClr>
              <a:buSzPts val="1800"/>
              <a:buChar char="●"/>
            </a:pPr>
            <a:r>
              <a:rPr lang="iw">
                <a:solidFill>
                  <a:srgbClr val="38761D"/>
                </a:solidFill>
              </a:rPr>
              <a:t>Vehicles per WA County</a:t>
            </a:r>
            <a:endParaRPr>
              <a:solidFill>
                <a:srgbClr val="38761D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38761D"/>
              </a:buClr>
              <a:buSzPts val="1800"/>
              <a:buChar char="●"/>
            </a:pPr>
            <a:r>
              <a:rPr lang="iw">
                <a:solidFill>
                  <a:srgbClr val="38761D"/>
                </a:solidFill>
              </a:rPr>
              <a:t>Vehicles per City</a:t>
            </a:r>
            <a:endParaRPr>
              <a:solidFill>
                <a:srgbClr val="38761D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38761D"/>
              </a:buClr>
              <a:buSzPts val="1800"/>
              <a:buChar char="●"/>
            </a:pPr>
            <a:r>
              <a:rPr lang="iw">
                <a:solidFill>
                  <a:srgbClr val="38761D"/>
                </a:solidFill>
              </a:rPr>
              <a:t>Vehicles per Electric Utility</a:t>
            </a:r>
            <a:endParaRPr>
              <a:solidFill>
                <a:srgbClr val="38761D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38761D"/>
              </a:buClr>
              <a:buSzPts val="1800"/>
              <a:buChar char="●"/>
            </a:pPr>
            <a:r>
              <a:rPr lang="iw">
                <a:solidFill>
                  <a:srgbClr val="38761D"/>
                </a:solidFill>
              </a:rPr>
              <a:t>Vehicles per Electric Vehicle Type</a:t>
            </a:r>
            <a:endParaRPr>
              <a:solidFill>
                <a:srgbClr val="38761D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38761D"/>
              </a:buClr>
              <a:buSzPts val="1800"/>
              <a:buChar char="●"/>
            </a:pPr>
            <a:r>
              <a:rPr lang="iw">
                <a:solidFill>
                  <a:srgbClr val="38761D"/>
                </a:solidFill>
              </a:rPr>
              <a:t>Top 5 makes</a:t>
            </a:r>
            <a:endParaRPr>
              <a:solidFill>
                <a:srgbClr val="38761D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38761D"/>
              </a:buClr>
              <a:buSzPts val="1800"/>
              <a:buChar char="●"/>
            </a:pPr>
            <a:r>
              <a:rPr lang="iw">
                <a:solidFill>
                  <a:srgbClr val="38761D"/>
                </a:solidFill>
              </a:rPr>
              <a:t>Top 5 models</a:t>
            </a:r>
            <a:endParaRPr>
              <a:solidFill>
                <a:srgbClr val="38761D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FF9900"/>
              </a:buClr>
              <a:buSzPts val="1800"/>
              <a:buChar char="●"/>
            </a:pPr>
            <a:r>
              <a:rPr lang="iw">
                <a:solidFill>
                  <a:srgbClr val="FF9900"/>
                </a:solidFill>
              </a:rPr>
              <a:t>Models per Make (top 3)</a:t>
            </a:r>
            <a:endParaRPr>
              <a:solidFill>
                <a:srgbClr val="FF9900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FF9900"/>
              </a:buClr>
              <a:buSzPts val="1800"/>
              <a:buChar char="●"/>
            </a:pPr>
            <a:r>
              <a:rPr lang="iw">
                <a:solidFill>
                  <a:srgbClr val="FF9900"/>
                </a:solidFill>
              </a:rPr>
              <a:t>Top Make per County (top 10)</a:t>
            </a:r>
            <a:endParaRPr>
              <a:solidFill>
                <a:srgbClr val="FF9900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FF9900"/>
              </a:buClr>
              <a:buSzPts val="1800"/>
              <a:buChar char="●"/>
            </a:pPr>
            <a:r>
              <a:rPr lang="iw">
                <a:solidFill>
                  <a:srgbClr val="FF9900"/>
                </a:solidFill>
              </a:rPr>
              <a:t>Top Models per County (top 10)</a:t>
            </a:r>
            <a:endParaRPr>
              <a:solidFill>
                <a:srgbClr val="FF9900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800"/>
              <a:buChar char="●"/>
            </a:pPr>
            <a:r>
              <a:rPr lang="iw">
                <a:solidFill>
                  <a:srgbClr val="FF0000"/>
                </a:solidFill>
              </a:rPr>
              <a:t>Top 3 Make per CAFV </a:t>
            </a:r>
            <a:r>
              <a:rPr lang="iw">
                <a:solidFill>
                  <a:srgbClr val="FF0000"/>
                </a:solidFill>
              </a:rPr>
              <a:t>Eligibility</a:t>
            </a:r>
            <a:endParaRPr>
              <a:solidFill>
                <a:srgbClr val="FF0000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800"/>
              <a:buChar char="●"/>
            </a:pPr>
            <a:r>
              <a:rPr lang="iw">
                <a:solidFill>
                  <a:srgbClr val="FF0000"/>
                </a:solidFill>
              </a:rPr>
              <a:t>Mean Electric Range of Top 3 Make per CAFV Eligibility</a:t>
            </a:r>
            <a:endParaRPr>
              <a:solidFill>
                <a:srgbClr val="FF0000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800"/>
              <a:buChar char="●"/>
            </a:pPr>
            <a:r>
              <a:rPr lang="iw">
                <a:solidFill>
                  <a:srgbClr val="FF0000"/>
                </a:solidFill>
              </a:rPr>
              <a:t>Top models </a:t>
            </a:r>
            <a:r>
              <a:rPr lang="iw">
                <a:solidFill>
                  <a:srgbClr val="FF0000"/>
                </a:solidFill>
              </a:rPr>
              <a:t>of Make </a:t>
            </a:r>
            <a:r>
              <a:rPr lang="iw">
                <a:solidFill>
                  <a:srgbClr val="FF0000"/>
                </a:solidFill>
              </a:rPr>
              <a:t>per CAFV </a:t>
            </a:r>
            <a:r>
              <a:rPr lang="iw">
                <a:solidFill>
                  <a:srgbClr val="FF0000"/>
                </a:solidFill>
              </a:rPr>
              <a:t>Eligibility</a:t>
            </a:r>
            <a:endParaRPr>
              <a:solidFill>
                <a:srgbClr val="FF0000"/>
              </a:solidFill>
            </a:endParaRPr>
          </a:p>
        </p:txBody>
      </p:sp>
      <p:sp>
        <p:nvSpPr>
          <p:cNvPr id="108" name="Google Shape;108;p20"/>
          <p:cNvSpPr txBox="1"/>
          <p:nvPr/>
        </p:nvSpPr>
        <p:spPr>
          <a:xfrm>
            <a:off x="7154975" y="0"/>
            <a:ext cx="1863000" cy="1582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w" sz="1800" u="sng">
                <a:solidFill>
                  <a:schemeClr val="dk2"/>
                </a:solidFill>
              </a:rPr>
              <a:t>Legend</a:t>
            </a:r>
            <a:r>
              <a:rPr lang="iw" sz="1800">
                <a:solidFill>
                  <a:schemeClr val="dk2"/>
                </a:solidFill>
              </a:rPr>
              <a:t>:</a:t>
            </a:r>
            <a:endParaRPr sz="1800">
              <a:solidFill>
                <a:schemeClr val="dk2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8761D"/>
              </a:buClr>
              <a:buSzPts val="1800"/>
              <a:buChar char="●"/>
            </a:pPr>
            <a:r>
              <a:rPr lang="iw" sz="1800">
                <a:solidFill>
                  <a:srgbClr val="38761D"/>
                </a:solidFill>
              </a:rPr>
              <a:t>Univariate</a:t>
            </a:r>
            <a:endParaRPr sz="1800">
              <a:solidFill>
                <a:srgbClr val="38761D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9900"/>
              </a:buClr>
              <a:buSzPts val="1800"/>
              <a:buChar char="●"/>
            </a:pPr>
            <a:r>
              <a:rPr lang="iw" sz="1800">
                <a:solidFill>
                  <a:srgbClr val="FF9900"/>
                </a:solidFill>
              </a:rPr>
              <a:t>Bivariate</a:t>
            </a:r>
            <a:endParaRPr sz="1800">
              <a:solidFill>
                <a:srgbClr val="FF9900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800"/>
              <a:buChar char="●"/>
            </a:pPr>
            <a:r>
              <a:rPr lang="iw" sz="1800">
                <a:solidFill>
                  <a:srgbClr val="FF0000"/>
                </a:solidFill>
              </a:rPr>
              <a:t>Multivariate</a:t>
            </a:r>
            <a:endParaRPr sz="1800">
              <a:solidFill>
                <a:srgbClr val="FF0000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2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w"/>
              <a:t>Vehicles per State</a:t>
            </a:r>
            <a:endParaRPr/>
          </a:p>
        </p:txBody>
      </p:sp>
      <p:sp>
        <p:nvSpPr>
          <p:cNvPr id="114" name="Google Shape;114;p21"/>
          <p:cNvSpPr txBox="1"/>
          <p:nvPr>
            <p:ph idx="1" type="body"/>
          </p:nvPr>
        </p:nvSpPr>
        <p:spPr>
          <a:xfrm>
            <a:off x="311700" y="1152475"/>
            <a:ext cx="50100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iw"/>
              <a:t>Conclusion: Most vehicles in the databset are from from Washington, roughly ~235,000 in WA followed by ~100 in CA</a:t>
            </a:r>
            <a:br>
              <a:rPr lang="iw"/>
            </a:br>
            <a:r>
              <a:rPr lang="iw"/>
              <a:t>Thus we concluded that vehicles not from WA are outliers</a:t>
            </a:r>
            <a:endParaRPr/>
          </a:p>
        </p:txBody>
      </p:sp>
      <p:pic>
        <p:nvPicPr>
          <p:cNvPr id="115" name="Google Shape;115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321575" y="649950"/>
            <a:ext cx="3738349" cy="4493550"/>
          </a:xfrm>
          <a:prstGeom prst="rect">
            <a:avLst/>
          </a:prstGeom>
          <a:noFill/>
          <a:ln>
            <a:noFill/>
          </a:ln>
        </p:spPr>
      </p:pic>
      <p:sp>
        <p:nvSpPr>
          <p:cNvPr id="116" name="Google Shape;116;p21"/>
          <p:cNvSpPr txBox="1"/>
          <p:nvPr/>
        </p:nvSpPr>
        <p:spPr>
          <a:xfrm>
            <a:off x="6254825" y="214550"/>
            <a:ext cx="2412900" cy="299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w" sz="1800">
                <a:solidFill>
                  <a:schemeClr val="dk2"/>
                </a:solidFill>
              </a:rPr>
              <a:t>WA Trimmed</a:t>
            </a:r>
            <a:endParaRPr sz="1800">
              <a:solidFill>
                <a:schemeClr val="dk2"/>
              </a:solidFill>
            </a:endParaRPr>
          </a:p>
        </p:txBody>
      </p:sp>
      <p:pic>
        <p:nvPicPr>
          <p:cNvPr id="117" name="Google Shape;117;p2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045511" y="2858725"/>
            <a:ext cx="2276075" cy="22847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2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iw" sz="1950">
                <a:solidFill>
                  <a:srgbClr val="1F1F1F"/>
                </a:solidFill>
                <a:latin typeface="Roboto"/>
                <a:ea typeface="Roboto"/>
                <a:cs typeface="Roboto"/>
                <a:sym typeface="Roboto"/>
              </a:rPr>
              <a:t>Vehicles per WA County</a:t>
            </a:r>
            <a:endParaRPr/>
          </a:p>
        </p:txBody>
      </p:sp>
      <p:sp>
        <p:nvSpPr>
          <p:cNvPr id="123" name="Google Shape;123;p22"/>
          <p:cNvSpPr txBox="1"/>
          <p:nvPr>
            <p:ph idx="1" type="body"/>
          </p:nvPr>
        </p:nvSpPr>
        <p:spPr>
          <a:xfrm>
            <a:off x="311700" y="944100"/>
            <a:ext cx="8520600" cy="89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iw" sz="1500">
                <a:solidFill>
                  <a:srgbClr val="1F1F1F"/>
                </a:solidFill>
                <a:latin typeface="Roboto"/>
                <a:ea typeface="Roboto"/>
                <a:cs typeface="Roboto"/>
                <a:sym typeface="Roboto"/>
              </a:rPr>
              <a:t>Conclusion: King county has the most (118,711) by a </a:t>
            </a:r>
            <a:r>
              <a:rPr b="1" lang="iw" sz="1500">
                <a:solidFill>
                  <a:srgbClr val="1F1F1F"/>
                </a:solidFill>
                <a:latin typeface="Roboto"/>
                <a:ea typeface="Roboto"/>
                <a:cs typeface="Roboto"/>
                <a:sym typeface="Roboto"/>
              </a:rPr>
              <a:t>large </a:t>
            </a:r>
            <a:r>
              <a:rPr lang="iw" sz="1500">
                <a:solidFill>
                  <a:srgbClr val="1F1F1F"/>
                </a:solidFill>
                <a:latin typeface="Roboto"/>
                <a:ea typeface="Roboto"/>
                <a:cs typeface="Roboto"/>
                <a:sym typeface="Roboto"/>
              </a:rPr>
              <a:t>margin, followed by Snohomish Thus we can conclude that any vehicle not in King county is a minor outlier in the dataset</a:t>
            </a:r>
            <a:endParaRPr sz="2100"/>
          </a:p>
        </p:txBody>
      </p:sp>
      <p:pic>
        <p:nvPicPr>
          <p:cNvPr id="124" name="Google Shape;124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34150" y="1692150"/>
            <a:ext cx="7582999" cy="3220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25" name="Google Shape;125;p2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108276" y="2146476"/>
            <a:ext cx="3035725" cy="29970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23"/>
          <p:cNvSpPr txBox="1"/>
          <p:nvPr>
            <p:ph idx="1" type="body"/>
          </p:nvPr>
        </p:nvSpPr>
        <p:spPr>
          <a:xfrm>
            <a:off x="311700" y="1017725"/>
            <a:ext cx="88323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iw"/>
              <a:t>Conclusion: Tesla is the most popular make in the top 20 cities by a large margin</a:t>
            </a:r>
            <a:endParaRPr/>
          </a:p>
        </p:txBody>
      </p:sp>
      <p:pic>
        <p:nvPicPr>
          <p:cNvPr id="131" name="Google Shape;131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87637" y="1615900"/>
            <a:ext cx="3768736" cy="3527601"/>
          </a:xfrm>
          <a:prstGeom prst="rect">
            <a:avLst/>
          </a:prstGeom>
          <a:noFill/>
          <a:ln>
            <a:noFill/>
          </a:ln>
        </p:spPr>
      </p:pic>
      <p:sp>
        <p:nvSpPr>
          <p:cNvPr id="132" name="Google Shape;132;p2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iw" sz="1950">
                <a:solidFill>
                  <a:srgbClr val="1F1F1F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Vehicles per City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2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w"/>
              <a:t>Vehicles per Electric Utility</a:t>
            </a:r>
            <a:endParaRPr/>
          </a:p>
        </p:txBody>
      </p:sp>
      <p:sp>
        <p:nvSpPr>
          <p:cNvPr id="138" name="Google Shape;138;p2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iw">
                <a:latin typeface="Roboto"/>
                <a:ea typeface="Roboto"/>
                <a:cs typeface="Roboto"/>
                <a:sym typeface="Roboto"/>
              </a:rPr>
              <a:t>Conclusion: We see that 'Puget Sound Energy Inc' is the utility that service the most vehicles, followed </a:t>
            </a:r>
            <a:r>
              <a:rPr lang="iw">
                <a:latin typeface="Roboto"/>
                <a:ea typeface="Roboto"/>
                <a:cs typeface="Roboto"/>
                <a:sym typeface="Roboto"/>
              </a:rPr>
              <a:t>closely</a:t>
            </a:r>
            <a:r>
              <a:rPr lang="iw">
                <a:latin typeface="Roboto"/>
                <a:ea typeface="Roboto"/>
                <a:cs typeface="Roboto"/>
                <a:sym typeface="Roboto"/>
              </a:rPr>
              <a:t> by 'City of Tacoma'</a:t>
            </a:r>
            <a:endParaRPr/>
          </a:p>
        </p:txBody>
      </p:sp>
      <p:pic>
        <p:nvPicPr>
          <p:cNvPr id="139" name="Google Shape;139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913775" y="1959025"/>
            <a:ext cx="5316469" cy="31844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2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w"/>
              <a:t>Vehicles per Electric Vehicle Type</a:t>
            </a:r>
            <a:endParaRPr/>
          </a:p>
        </p:txBody>
      </p:sp>
      <p:sp>
        <p:nvSpPr>
          <p:cNvPr id="145" name="Google Shape;145;p2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w"/>
              <a:t>Conclusion: ~80% of vehicles are Battery Electric Vehicle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iw"/>
              <a:t>1 out of 5 vehicles is Plug-in Hybrid Vehicle</a:t>
            </a:r>
            <a:endParaRPr/>
          </a:p>
        </p:txBody>
      </p:sp>
      <p:pic>
        <p:nvPicPr>
          <p:cNvPr id="146" name="Google Shape;146;p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254925" y="2216625"/>
            <a:ext cx="3577375" cy="2352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7" name="Google Shape;147;p2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971769" y="2216625"/>
            <a:ext cx="3175231" cy="23522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2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w"/>
              <a:t>Top 5 Makes</a:t>
            </a:r>
            <a:endParaRPr/>
          </a:p>
        </p:txBody>
      </p:sp>
      <p:sp>
        <p:nvSpPr>
          <p:cNvPr id="153" name="Google Shape;153;p26"/>
          <p:cNvSpPr txBox="1"/>
          <p:nvPr>
            <p:ph idx="1" type="body"/>
          </p:nvPr>
        </p:nvSpPr>
        <p:spPr>
          <a:xfrm>
            <a:off x="311700" y="1152475"/>
            <a:ext cx="32574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iw"/>
              <a:t>Conclusion:</a:t>
            </a:r>
            <a:br>
              <a:rPr lang="iw"/>
            </a:br>
            <a:r>
              <a:rPr lang="iw"/>
              <a:t>TESLA is the top Make in the dataset by a large margin, </a:t>
            </a:r>
            <a:br>
              <a:rPr lang="iw"/>
            </a:br>
            <a:r>
              <a:rPr lang="iw"/>
              <a:t>followed by CHEVROLET </a:t>
            </a:r>
            <a:br>
              <a:rPr lang="iw"/>
            </a:br>
            <a:r>
              <a:rPr lang="iw"/>
              <a:t>and NISSAN.</a:t>
            </a:r>
            <a:endParaRPr/>
          </a:p>
        </p:txBody>
      </p:sp>
      <p:pic>
        <p:nvPicPr>
          <p:cNvPr id="154" name="Google Shape;154;p2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569148" y="1017725"/>
            <a:ext cx="5476824" cy="40796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2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w"/>
              <a:t>Top 5 Models</a:t>
            </a:r>
            <a:endParaRPr/>
          </a:p>
        </p:txBody>
      </p:sp>
      <p:sp>
        <p:nvSpPr>
          <p:cNvPr id="160" name="Google Shape;160;p27"/>
          <p:cNvSpPr txBox="1"/>
          <p:nvPr>
            <p:ph idx="1" type="body"/>
          </p:nvPr>
        </p:nvSpPr>
        <p:spPr>
          <a:xfrm>
            <a:off x="311700" y="1152475"/>
            <a:ext cx="2975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w"/>
              <a:t>Conclusion: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iw"/>
              <a:t>The top models are Model Y and 3 of TESLA followed by Leaf of Nissan.</a:t>
            </a:r>
            <a:endParaRPr/>
          </a:p>
        </p:txBody>
      </p:sp>
      <p:pic>
        <p:nvPicPr>
          <p:cNvPr id="161" name="Google Shape;161;p2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286800" y="1289500"/>
            <a:ext cx="5525524" cy="32793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2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w"/>
              <a:t>Models per Make (top 3 Make)</a:t>
            </a:r>
            <a:endParaRPr/>
          </a:p>
        </p:txBody>
      </p:sp>
      <p:sp>
        <p:nvSpPr>
          <p:cNvPr id="167" name="Google Shape;167;p2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w"/>
              <a:t>Conclusion: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iw"/>
              <a:t>48.7% of Tesla Models are the Model Y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iw"/>
              <a:t>42.5% of CHEVROLET Models are BOLT EV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iw"/>
              <a:t>88.9% of NISSAN models are LEAF.</a:t>
            </a:r>
            <a:endParaRPr/>
          </a:p>
        </p:txBody>
      </p:sp>
      <p:pic>
        <p:nvPicPr>
          <p:cNvPr id="168" name="Google Shape;168;p2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48550" y="2645095"/>
            <a:ext cx="2492025" cy="2487818"/>
          </a:xfrm>
          <a:prstGeom prst="rect">
            <a:avLst/>
          </a:prstGeom>
          <a:noFill/>
          <a:ln>
            <a:noFill/>
          </a:ln>
        </p:spPr>
      </p:pic>
      <p:pic>
        <p:nvPicPr>
          <p:cNvPr id="169" name="Google Shape;169;p2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86425" y="2664087"/>
            <a:ext cx="2492025" cy="2479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70" name="Google Shape;170;p28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200675" y="2634500"/>
            <a:ext cx="2492025" cy="2509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2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w"/>
              <a:t>Top Makes in </a:t>
            </a:r>
            <a:r>
              <a:rPr lang="iw"/>
              <a:t>WA Counties</a:t>
            </a:r>
            <a:endParaRPr/>
          </a:p>
        </p:txBody>
      </p:sp>
      <p:sp>
        <p:nvSpPr>
          <p:cNvPr id="176" name="Google Shape;176;p29"/>
          <p:cNvSpPr txBox="1"/>
          <p:nvPr>
            <p:ph idx="1" type="body"/>
          </p:nvPr>
        </p:nvSpPr>
        <p:spPr>
          <a:xfrm>
            <a:off x="311700" y="1152475"/>
            <a:ext cx="5085900" cy="916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1200"/>
              </a:spcAft>
              <a:buSzPts val="440"/>
              <a:buNone/>
            </a:pPr>
            <a:r>
              <a:rPr lang="iw" sz="1520"/>
              <a:t>Conclusion: </a:t>
            </a:r>
            <a:r>
              <a:rPr lang="iw" sz="1520"/>
              <a:t>TESLA is leading in the top 10 counties and in 95% of all counties in Washington (WA)</a:t>
            </a:r>
            <a:endParaRPr sz="1620"/>
          </a:p>
        </p:txBody>
      </p:sp>
      <p:pic>
        <p:nvPicPr>
          <p:cNvPr id="177" name="Google Shape;177;p2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882525" y="524825"/>
            <a:ext cx="2110775" cy="3650775"/>
          </a:xfrm>
          <a:prstGeom prst="rect">
            <a:avLst/>
          </a:prstGeom>
          <a:noFill/>
          <a:ln>
            <a:noFill/>
          </a:ln>
        </p:spPr>
      </p:pic>
      <p:sp>
        <p:nvSpPr>
          <p:cNvPr id="178" name="Google Shape;178;p29"/>
          <p:cNvSpPr txBox="1"/>
          <p:nvPr>
            <p:ph idx="1" type="body"/>
          </p:nvPr>
        </p:nvSpPr>
        <p:spPr>
          <a:xfrm>
            <a:off x="3512575" y="1754325"/>
            <a:ext cx="3270300" cy="1308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1200"/>
              </a:spcAft>
              <a:buSzPts val="440"/>
              <a:buNone/>
            </a:pPr>
            <a:r>
              <a:rPr lang="iw" sz="1320"/>
              <a:t>And the only county TESLA isn’t in the lead is Garfield</a:t>
            </a:r>
            <a:endParaRPr sz="1420"/>
          </a:p>
        </p:txBody>
      </p:sp>
      <p:pic>
        <p:nvPicPr>
          <p:cNvPr id="179" name="Google Shape;179;p2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120425" y="2352679"/>
            <a:ext cx="1721708" cy="1344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80" name="Google Shape;180;p2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11700" y="1754322"/>
            <a:ext cx="3200887" cy="3389174"/>
          </a:xfrm>
          <a:prstGeom prst="rect">
            <a:avLst/>
          </a:prstGeom>
          <a:noFill/>
          <a:ln>
            <a:noFill/>
          </a:ln>
        </p:spPr>
      </p:pic>
      <p:sp>
        <p:nvSpPr>
          <p:cNvPr id="181" name="Google Shape;181;p29"/>
          <p:cNvSpPr txBox="1"/>
          <p:nvPr>
            <p:ph idx="1" type="body"/>
          </p:nvPr>
        </p:nvSpPr>
        <p:spPr>
          <a:xfrm>
            <a:off x="3562400" y="3697500"/>
            <a:ext cx="3270300" cy="728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1200"/>
              </a:spcAft>
              <a:buSzPts val="440"/>
              <a:buNone/>
            </a:pPr>
            <a:r>
              <a:rPr lang="iw" sz="1300"/>
              <a:t>And TESLA is actually tied with FORD in Columbia</a:t>
            </a:r>
            <a:endParaRPr sz="1420"/>
          </a:p>
        </p:txBody>
      </p:sp>
      <p:pic>
        <p:nvPicPr>
          <p:cNvPr id="182" name="Google Shape;182;p29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4216824" y="4175605"/>
            <a:ext cx="1528900" cy="97192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3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w"/>
              <a:t>Top Models in WA Counties</a:t>
            </a:r>
            <a:endParaRPr/>
          </a:p>
        </p:txBody>
      </p:sp>
      <p:sp>
        <p:nvSpPr>
          <p:cNvPr id="188" name="Google Shape;188;p30"/>
          <p:cNvSpPr txBox="1"/>
          <p:nvPr>
            <p:ph idx="1" type="body"/>
          </p:nvPr>
        </p:nvSpPr>
        <p:spPr>
          <a:xfrm>
            <a:off x="311700" y="1152475"/>
            <a:ext cx="6105600" cy="84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iw" sz="1500"/>
              <a:t>Conclusion: </a:t>
            </a:r>
            <a:r>
              <a:rPr lang="iw" sz="1500"/>
              <a:t>The Model Y is the most popular in the top 10 counties and is the top model in 59% of all counties </a:t>
            </a:r>
            <a:r>
              <a:rPr lang="iw" sz="1500"/>
              <a:t>in Washington (WA)</a:t>
            </a:r>
            <a:r>
              <a:rPr lang="iw" sz="1500"/>
              <a:t>.</a:t>
            </a:r>
            <a:endParaRPr sz="1500"/>
          </a:p>
        </p:txBody>
      </p:sp>
      <p:pic>
        <p:nvPicPr>
          <p:cNvPr id="189" name="Google Shape;189;p3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373225" y="1522624"/>
            <a:ext cx="2770775" cy="36208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90" name="Google Shape;190;p3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507275" y="2058925"/>
            <a:ext cx="3692149" cy="28151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3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w"/>
              <a:t>Amount of Top 3 Make of each CAFV Eligibility</a:t>
            </a:r>
            <a:endParaRPr/>
          </a:p>
        </p:txBody>
      </p:sp>
      <p:sp>
        <p:nvSpPr>
          <p:cNvPr id="196" name="Google Shape;196;p31"/>
          <p:cNvSpPr txBox="1"/>
          <p:nvPr>
            <p:ph idx="1" type="body"/>
          </p:nvPr>
        </p:nvSpPr>
        <p:spPr>
          <a:xfrm>
            <a:off x="311700" y="941525"/>
            <a:ext cx="4683600" cy="154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w" sz="1600"/>
              <a:t>Conclusion: </a:t>
            </a:r>
            <a:endParaRPr sz="1600"/>
          </a:p>
          <a:p>
            <a:pPr indent="-330200" lvl="0" marL="457200" rtl="0" algn="l">
              <a:spcBef>
                <a:spcPts val="1200"/>
              </a:spcBef>
              <a:spcAft>
                <a:spcPts val="0"/>
              </a:spcAft>
              <a:buSzPts val="1600"/>
              <a:buChar char="●"/>
            </a:pPr>
            <a:r>
              <a:rPr lang="iw" sz="1600"/>
              <a:t>Most unknown </a:t>
            </a:r>
            <a:r>
              <a:rPr lang="iw" sz="1600"/>
              <a:t>eligibility</a:t>
            </a:r>
            <a:r>
              <a:rPr lang="iw" sz="1600"/>
              <a:t> are TESLA vehicles. </a:t>
            </a:r>
            <a:endParaRPr sz="1600"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iw" sz="1600"/>
              <a:t>Most eligible vehicles are by Tesla</a:t>
            </a:r>
            <a:endParaRPr sz="1600"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iw" sz="1600"/>
              <a:t>Most not eligible vehicles are by Jeep</a:t>
            </a:r>
            <a:endParaRPr sz="1600"/>
          </a:p>
        </p:txBody>
      </p:sp>
      <p:pic>
        <p:nvPicPr>
          <p:cNvPr id="197" name="Google Shape;197;p3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291050" y="2262825"/>
            <a:ext cx="4852949" cy="28806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3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w"/>
              <a:t>Mean of Top 3 Make of each CAFV Eligibility</a:t>
            </a:r>
            <a:endParaRPr/>
          </a:p>
        </p:txBody>
      </p:sp>
      <p:sp>
        <p:nvSpPr>
          <p:cNvPr id="203" name="Google Shape;203;p32"/>
          <p:cNvSpPr txBox="1"/>
          <p:nvPr>
            <p:ph idx="1" type="body"/>
          </p:nvPr>
        </p:nvSpPr>
        <p:spPr>
          <a:xfrm>
            <a:off x="0" y="1017725"/>
            <a:ext cx="3024600" cy="400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w"/>
              <a:t>Conclusion:  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-"/>
            </a:pPr>
            <a:r>
              <a:rPr lang="iw"/>
              <a:t>TESLA has the highest mean of Electric Range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iw"/>
              <a:t>Unknown </a:t>
            </a:r>
            <a:r>
              <a:rPr lang="iw"/>
              <a:t>eligibility</a:t>
            </a:r>
            <a:r>
              <a:rPr lang="iw"/>
              <a:t> has no known electric range.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iw"/>
              <a:t>Low battery not eligibility vehicles have lower electric range than </a:t>
            </a:r>
            <a:r>
              <a:rPr lang="iw"/>
              <a:t>eligible </a:t>
            </a:r>
            <a:r>
              <a:rPr lang="iw"/>
              <a:t>vehicles</a:t>
            </a:r>
            <a:endParaRPr/>
          </a:p>
        </p:txBody>
      </p:sp>
      <p:pic>
        <p:nvPicPr>
          <p:cNvPr id="204" name="Google Shape;204;p3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024523" y="1420348"/>
            <a:ext cx="6119475" cy="37231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p3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w"/>
              <a:t>Top models in each eligibility category - CAFV Eligible</a:t>
            </a:r>
            <a:endParaRPr/>
          </a:p>
        </p:txBody>
      </p:sp>
      <p:sp>
        <p:nvSpPr>
          <p:cNvPr id="210" name="Google Shape;210;p33"/>
          <p:cNvSpPr txBox="1"/>
          <p:nvPr>
            <p:ph idx="1" type="body"/>
          </p:nvPr>
        </p:nvSpPr>
        <p:spPr>
          <a:xfrm>
            <a:off x="311700" y="1152475"/>
            <a:ext cx="8520600" cy="651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1200"/>
              </a:spcAft>
              <a:buSzPts val="935"/>
              <a:buNone/>
            </a:pPr>
            <a:r>
              <a:rPr lang="iw" sz="1629"/>
              <a:t>Conclusion</a:t>
            </a:r>
            <a:r>
              <a:rPr lang="iw" sz="1629"/>
              <a:t>: The Tesla Model 3 is the top model that is Eligible with close to 14 thousands vehicles, followed by the Nissan Leaf with ~10 </a:t>
            </a:r>
            <a:r>
              <a:rPr lang="iw" sz="1629"/>
              <a:t>thousands vehicles</a:t>
            </a:r>
            <a:endParaRPr sz="1629"/>
          </a:p>
        </p:txBody>
      </p:sp>
      <p:pic>
        <p:nvPicPr>
          <p:cNvPr id="211" name="Google Shape;211;p3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567900" y="1873050"/>
            <a:ext cx="6497150" cy="32046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p3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w" sz="2650"/>
              <a:t>Top models in each eligibility category - </a:t>
            </a:r>
            <a:r>
              <a:rPr lang="iw" sz="2133"/>
              <a:t>CAFV eligibility unknown</a:t>
            </a:r>
            <a:endParaRPr sz="2133"/>
          </a:p>
        </p:txBody>
      </p:sp>
      <p:sp>
        <p:nvSpPr>
          <p:cNvPr id="217" name="Google Shape;217;p34"/>
          <p:cNvSpPr txBox="1"/>
          <p:nvPr>
            <p:ph idx="1" type="body"/>
          </p:nvPr>
        </p:nvSpPr>
        <p:spPr>
          <a:xfrm>
            <a:off x="311700" y="1152475"/>
            <a:ext cx="8520600" cy="651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iw"/>
              <a:t>Conclusion: The Tesla Model Y is the model that leads followed by the Model 3</a:t>
            </a:r>
            <a:endParaRPr/>
          </a:p>
        </p:txBody>
      </p:sp>
      <p:pic>
        <p:nvPicPr>
          <p:cNvPr id="218" name="Google Shape;218;p3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259449" y="1747750"/>
            <a:ext cx="6884549" cy="3395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p3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w"/>
              <a:t>Top models in each eligibility category - Not CAFV eligible</a:t>
            </a:r>
            <a:endParaRPr/>
          </a:p>
        </p:txBody>
      </p:sp>
      <p:sp>
        <p:nvSpPr>
          <p:cNvPr id="224" name="Google Shape;224;p35"/>
          <p:cNvSpPr txBox="1"/>
          <p:nvPr>
            <p:ph idx="1" type="body"/>
          </p:nvPr>
        </p:nvSpPr>
        <p:spPr>
          <a:xfrm>
            <a:off x="311700" y="1152475"/>
            <a:ext cx="8520600" cy="651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850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iw"/>
              <a:t>Conclusion: The JEEP Wrangler is the top model that is not eligible with over 4 thousands vehicles, followed by the Toyota Prius Prime with ~3600 vehicles</a:t>
            </a:r>
            <a:endParaRPr/>
          </a:p>
        </p:txBody>
      </p:sp>
      <p:pic>
        <p:nvPicPr>
          <p:cNvPr id="225" name="Google Shape;225;p3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374274" y="1804375"/>
            <a:ext cx="6769724" cy="33391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p36"/>
          <p:cNvSpPr txBox="1"/>
          <p:nvPr>
            <p:ph type="title"/>
          </p:nvPr>
        </p:nvSpPr>
        <p:spPr>
          <a:xfrm>
            <a:off x="311700" y="445025"/>
            <a:ext cx="8520600" cy="3356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iw" sz="7600"/>
              <a:t>THANKS FOR LISTENING</a:t>
            </a:r>
            <a:endParaRPr sz="7600"/>
          </a:p>
        </p:txBody>
      </p:sp>
      <p:pic>
        <p:nvPicPr>
          <p:cNvPr id="231" name="Google Shape;231;p3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398510">
            <a:off x="0" y="3912572"/>
            <a:ext cx="4572001" cy="123092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