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y="5143500" cx="9144000"/>
  <p:notesSz cx="6858000" cy="9144000"/>
  <p:embeddedFontLst>
    <p:embeddedFont>
      <p:font typeface="Roboto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A80F15C-4DF9-42E0-8A9D-077995C2CD54}">
  <a:tblStyle styleId="{3A80F15C-4DF9-42E0-8A9D-077995C2CD5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Roboto-regular.fntdata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font" Target="fonts/Roboto-italic.fntdata"/><Relationship Id="rId10" Type="http://schemas.openxmlformats.org/officeDocument/2006/relationships/slide" Target="slides/slide4.xml"/><Relationship Id="rId32" Type="http://schemas.openxmlformats.org/officeDocument/2006/relationships/font" Target="fonts/Roboto-bold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34" Type="http://schemas.openxmlformats.org/officeDocument/2006/relationships/font" Target="fonts/Roboto-bold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5da4827f45_0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5da4827f45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5da4827f4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5da4827f4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5da4827f45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5da4827f45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5da4827f45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5da4827f45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5da4827f45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5da4827f45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5da4827f45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5da4827f45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5da4827f45_2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5da4827f45_2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5da4827f45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5da4827f45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5da4827f45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5da4827f45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5da4827f45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5da4827f45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5da4827f45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5da4827f45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5da4827f45_0_1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5da4827f45_0_1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5da4827f45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5da4827f45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5da4827f45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5da4827f45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5da4827f45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5da4827f45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5da4827f4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5da4827f4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5da4827f45_0_1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5da4827f45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5da4827f45_0_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5da4827f45_0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5da4827f45_0_1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5da4827f45_0_1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5da4827f45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5da4827f45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5da4827f45_2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5da4827f45_2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5da4827f45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5da4827f45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5da4827f45_0_1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5da4827f45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gradFill>
          <a:gsLst>
            <a:gs pos="0">
              <a:srgbClr val="C9DAF8"/>
            </a:gs>
            <a:gs pos="100000">
              <a:schemeClr val="lt1"/>
            </a:gs>
          </a:gsLst>
          <a:lin ang="5400012" scaled="0"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hyperlink" Target="https://github.com/shachar700/DataAnalysis_ElectricVehicles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atalog.data.gov/dataset/electric-vehicle-population-data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Relationship Id="rId4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2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Data Analysis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w"/>
              <a:t>Electric Vehicles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Shahar Berenson	208608414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Shlomi </a:t>
            </a:r>
            <a:r>
              <a:rPr lang="iw"/>
              <a:t>Fridman</a:t>
            </a:r>
            <a:r>
              <a:rPr lang="iw"/>
              <a:t>		318187002</a:t>
            </a:r>
            <a:endParaRPr/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398510">
            <a:off x="0" y="3912572"/>
            <a:ext cx="4572001" cy="1230927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4101000" y="4171800"/>
            <a:ext cx="9420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 u="sng">
                <a:solidFill>
                  <a:schemeClr val="hlink"/>
                </a:solidFill>
                <a:hlinkClick r:id="rId4"/>
              </a:rPr>
              <a:t>GitHub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idx="4294967295" type="title"/>
          </p:nvPr>
        </p:nvSpPr>
        <p:spPr>
          <a:xfrm>
            <a:off x="311700" y="445025"/>
            <a:ext cx="1898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lang="iw"/>
              <a:t>Members</a:t>
            </a:r>
            <a:endParaRPr b="1" sz="23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>
            <p:ph idx="4294967295" type="body"/>
          </p:nvPr>
        </p:nvSpPr>
        <p:spPr>
          <a:xfrm>
            <a:off x="808700" y="4624400"/>
            <a:ext cx="3629100" cy="48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Shahar Berenson</a:t>
            </a:r>
            <a:endParaRPr/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70913" y="976313"/>
            <a:ext cx="3629025" cy="3648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788" y="976313"/>
            <a:ext cx="3629025" cy="364807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4294967295" type="body"/>
          </p:nvPr>
        </p:nvSpPr>
        <p:spPr>
          <a:xfrm>
            <a:off x="4870888" y="4624400"/>
            <a:ext cx="3629100" cy="48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Shlomi Fridman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Introduction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b="1" lang="iw" sz="2300"/>
              <a:t>Electric Vehicle Population Data</a:t>
            </a:r>
            <a:endParaRPr b="1" sz="23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5"/>
          <p:cNvSpPr txBox="1"/>
          <p:nvPr>
            <p:ph idx="1" type="body"/>
          </p:nvPr>
        </p:nvSpPr>
        <p:spPr>
          <a:xfrm>
            <a:off x="311700" y="1613400"/>
            <a:ext cx="8520600" cy="295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This dataset shows the Battery Electric Vehicles (BEVs) and Plug-in Hybrid Electric Vehicles (PHEVs) that are currently registered through Washington State Department of Licensing (DOL).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w" u="sng">
                <a:solidFill>
                  <a:schemeClr val="hlink"/>
                </a:solidFill>
                <a:hlinkClick r:id="rId3"/>
              </a:rPr>
              <a:t>Source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iw"/>
              <a:t>Data fetch date: May 17th 2025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w"/>
              <a:t>235,693 rows x </a:t>
            </a:r>
            <a:r>
              <a:rPr lang="iw"/>
              <a:t>17 columns</a:t>
            </a:r>
            <a:endParaRPr/>
          </a:p>
        </p:txBody>
      </p:sp>
      <p:pic>
        <p:nvPicPr>
          <p:cNvPr id="73" name="Google Shape;73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398510">
            <a:off x="0" y="3912572"/>
            <a:ext cx="4572001" cy="12309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/>
          <p:nvPr>
            <p:ph type="title"/>
          </p:nvPr>
        </p:nvSpPr>
        <p:spPr>
          <a:xfrm>
            <a:off x="311700" y="159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Features (1)</a:t>
            </a:r>
            <a:endParaRPr/>
          </a:p>
        </p:txBody>
      </p:sp>
      <p:graphicFrame>
        <p:nvGraphicFramePr>
          <p:cNvPr id="79" name="Google Shape;79;p16"/>
          <p:cNvGraphicFramePr/>
          <p:nvPr/>
        </p:nvGraphicFramePr>
        <p:xfrm>
          <a:off x="311700" y="789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{3A80F15C-4DF9-42E0-8A9D-077995C2CD54}</a:tableStyleId>
              </a:tblPr>
              <a:tblGrid>
                <a:gridCol w="2019075"/>
                <a:gridCol w="52199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w"/>
                        <a:t>Feature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w"/>
                        <a:t>Description</a:t>
                      </a:r>
                      <a:endParaRPr b="1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VIN (1-10)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First 10 characters of the Vehicle Identification Number.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County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county where the vehicle is registered or located.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City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city where the vehicle is registered or located.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State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U.S. state abbreviation (e.g., WA for Washington).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Postal Code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ZIP/postal code of the vehicle's location.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Model Year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year the vehicle was manufactured.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Make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manufacturer (e.g., Tesla, Nissan).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Model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specific model of the car (e.g., Model 3, Leaf).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Electric Vehicle Type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Type of EV (Battery Electric Vehicle (BEV), Plug-in Hybrid Electric Vehicle (PHEV), etc.).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11700" y="159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Features (2)</a:t>
            </a:r>
            <a:endParaRPr/>
          </a:p>
        </p:txBody>
      </p:sp>
      <p:graphicFrame>
        <p:nvGraphicFramePr>
          <p:cNvPr id="85" name="Google Shape;85;p17"/>
          <p:cNvGraphicFramePr/>
          <p:nvPr/>
        </p:nvGraphicFramePr>
        <p:xfrm>
          <a:off x="311700" y="789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{3A80F15C-4DF9-42E0-8A9D-077995C2CD54}</a:tableStyleId>
              </a:tblPr>
              <a:tblGrid>
                <a:gridCol w="2019050"/>
                <a:gridCol w="52199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w"/>
                        <a:t>Feature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w"/>
                        <a:t>Description</a:t>
                      </a:r>
                      <a:endParaRPr b="1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Clean Alternative Fuel Vehicle (CAFV) Eligibility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Indicates whether the vehicle qualifies under CAFV rules.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Electric Range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How many miles the vehicle can travel on electricity alone.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Base MSRP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Manufacturer's Suggested Retail Price at base level (starting price).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Legislative District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Legislative district associated with the vehicle's location.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DOL Vehicle ID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Department of Licensing Vehicle ID (state-assigned).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Vehicle Location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More detailed info about where the vehicle is located.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Electric Utility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electric company servicing that area.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2020 Census Tract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Census tract identifier from the 2020 census (used for demographic/geographic analysis).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Dropped Features</a:t>
            </a:r>
            <a:endParaRPr/>
          </a:p>
        </p:txBody>
      </p:sp>
      <p:sp>
        <p:nvSpPr>
          <p:cNvPr id="91" name="Google Shape;91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We didn’t find interesting details about the following features, so we chose to drop them: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Base MSRP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Vehicle Location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DOL Vehicle ID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2020 Census Tract</a:t>
            </a:r>
            <a:endParaRPr/>
          </a:p>
        </p:txBody>
      </p:sp>
      <p:pic>
        <p:nvPicPr>
          <p:cNvPr id="92" name="Google Shape;9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025" y="4206000"/>
            <a:ext cx="8520601" cy="68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Missing Values</a:t>
            </a:r>
            <a:endParaRPr/>
          </a:p>
        </p:txBody>
      </p:sp>
      <p:sp>
        <p:nvSpPr>
          <p:cNvPr id="98" name="Google Shape;98;p19"/>
          <p:cNvSpPr txBox="1"/>
          <p:nvPr>
            <p:ph idx="1" type="body"/>
          </p:nvPr>
        </p:nvSpPr>
        <p:spPr>
          <a:xfrm>
            <a:off x="311700" y="1152475"/>
            <a:ext cx="5132700" cy="2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The only missing values we cared about were the County and City values, thus we chose to drop those rows.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iw"/>
              <a:t>The missing values in Electric Range and Base MSRP were indication that the data was unknown, which we used in </a:t>
            </a:r>
            <a:r>
              <a:rPr lang="iw"/>
              <a:t>statistics later on</a:t>
            </a:r>
            <a:endParaRPr/>
          </a:p>
        </p:txBody>
      </p:sp>
      <p:pic>
        <p:nvPicPr>
          <p:cNvPr id="99" name="Google Shape;99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84075" y="109575"/>
            <a:ext cx="2783725" cy="4131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575" y="4310650"/>
            <a:ext cx="8934252" cy="721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Questions</a:t>
            </a:r>
            <a:endParaRPr/>
          </a:p>
        </p:txBody>
      </p:sp>
      <p:sp>
        <p:nvSpPr>
          <p:cNvPr id="106" name="Google Shape;106;p20"/>
          <p:cNvSpPr txBox="1"/>
          <p:nvPr>
            <p:ph idx="1" type="body"/>
          </p:nvPr>
        </p:nvSpPr>
        <p:spPr>
          <a:xfrm>
            <a:off x="311700" y="1152475"/>
            <a:ext cx="8520600" cy="39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The questions we’ve had about the dataset were: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Vehicles per State</a:t>
            </a:r>
            <a:endParaRPr>
              <a:solidFill>
                <a:srgbClr val="38761D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Vehicles per WA County</a:t>
            </a:r>
            <a:endParaRPr>
              <a:solidFill>
                <a:srgbClr val="38761D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Vehicles per City</a:t>
            </a:r>
            <a:endParaRPr>
              <a:solidFill>
                <a:srgbClr val="38761D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Vehicles per Electric Utility</a:t>
            </a:r>
            <a:endParaRPr>
              <a:solidFill>
                <a:srgbClr val="38761D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Vehicles per Electric Vehicle Type</a:t>
            </a:r>
            <a:endParaRPr>
              <a:solidFill>
                <a:srgbClr val="38761D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Top 5 makes</a:t>
            </a:r>
            <a:endParaRPr>
              <a:solidFill>
                <a:srgbClr val="38761D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800"/>
              <a:buChar char="●"/>
            </a:pPr>
            <a:r>
              <a:rPr lang="iw">
                <a:solidFill>
                  <a:srgbClr val="FF9900"/>
                </a:solidFill>
              </a:rPr>
              <a:t>Top 5 models</a:t>
            </a:r>
            <a:endParaRPr>
              <a:solidFill>
                <a:srgbClr val="38761D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800"/>
              <a:buChar char="●"/>
            </a:pPr>
            <a:r>
              <a:rPr lang="iw">
                <a:solidFill>
                  <a:srgbClr val="FF9900"/>
                </a:solidFill>
              </a:rPr>
              <a:t>Models per Make (top 3)</a:t>
            </a:r>
            <a:endParaRPr>
              <a:solidFill>
                <a:srgbClr val="FF99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800"/>
              <a:buChar char="●"/>
            </a:pPr>
            <a:r>
              <a:rPr lang="iw">
                <a:solidFill>
                  <a:srgbClr val="FF9900"/>
                </a:solidFill>
              </a:rPr>
              <a:t>Top Make per County (top 10)</a:t>
            </a:r>
            <a:endParaRPr>
              <a:solidFill>
                <a:srgbClr val="FF99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800"/>
              <a:buChar char="●"/>
            </a:pPr>
            <a:r>
              <a:rPr lang="iw">
                <a:solidFill>
                  <a:srgbClr val="FF9900"/>
                </a:solidFill>
              </a:rPr>
              <a:t>Top Models per County (top 10)</a:t>
            </a:r>
            <a:endParaRPr>
              <a:solidFill>
                <a:srgbClr val="FF99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Char char="●"/>
            </a:pPr>
            <a:r>
              <a:rPr lang="iw">
                <a:solidFill>
                  <a:srgbClr val="FF0000"/>
                </a:solidFill>
              </a:rPr>
              <a:t>Amount of Top 3 Make per each CAFV </a:t>
            </a:r>
            <a:r>
              <a:rPr lang="iw">
                <a:solidFill>
                  <a:srgbClr val="FF0000"/>
                </a:solidFill>
              </a:rPr>
              <a:t>Eligibility</a:t>
            </a:r>
            <a:endParaRPr>
              <a:solidFill>
                <a:srgbClr val="FF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Char char="●"/>
            </a:pPr>
            <a:r>
              <a:rPr lang="iw">
                <a:solidFill>
                  <a:srgbClr val="FF0000"/>
                </a:solidFill>
              </a:rPr>
              <a:t>Mean Electric Range of Top 3 Make per each CAFV Eligibility</a:t>
            </a:r>
            <a:endParaRPr>
              <a:solidFill>
                <a:srgbClr val="FF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Char char="●"/>
            </a:pPr>
            <a:r>
              <a:rPr lang="iw">
                <a:solidFill>
                  <a:srgbClr val="FF0000"/>
                </a:solidFill>
              </a:rPr>
              <a:t>Top models of Make per each CAFV </a:t>
            </a:r>
            <a:r>
              <a:rPr lang="iw">
                <a:solidFill>
                  <a:srgbClr val="FF0000"/>
                </a:solidFill>
              </a:rPr>
              <a:t>Eligibility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107" name="Google Shape;107;p20"/>
          <p:cNvSpPr txBox="1"/>
          <p:nvPr/>
        </p:nvSpPr>
        <p:spPr>
          <a:xfrm>
            <a:off x="7154975" y="0"/>
            <a:ext cx="1863000" cy="15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 u="sng">
                <a:solidFill>
                  <a:schemeClr val="dk2"/>
                </a:solidFill>
              </a:rPr>
              <a:t>Legend</a:t>
            </a:r>
            <a:r>
              <a:rPr lang="iw" sz="1800">
                <a:solidFill>
                  <a:schemeClr val="dk2"/>
                </a:solidFill>
              </a:rPr>
              <a:t>: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 sz="1800">
                <a:solidFill>
                  <a:srgbClr val="38761D"/>
                </a:solidFill>
              </a:rPr>
              <a:t>Univariate</a:t>
            </a:r>
            <a:endParaRPr sz="1800">
              <a:solidFill>
                <a:srgbClr val="38761D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800"/>
              <a:buChar char="●"/>
            </a:pPr>
            <a:r>
              <a:rPr lang="iw" sz="1800">
                <a:solidFill>
                  <a:srgbClr val="FF9900"/>
                </a:solidFill>
              </a:rPr>
              <a:t>Bivariate</a:t>
            </a:r>
            <a:endParaRPr sz="1800">
              <a:solidFill>
                <a:srgbClr val="FF9900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Char char="●"/>
            </a:pPr>
            <a:r>
              <a:rPr lang="iw" sz="1800">
                <a:solidFill>
                  <a:srgbClr val="FF0000"/>
                </a:solidFill>
              </a:rPr>
              <a:t>Multivariate</a:t>
            </a:r>
            <a:endParaRPr sz="18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Vehicles per State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 Most vehicles are from Washington</a:t>
            </a:r>
            <a:br>
              <a:rPr lang="iw"/>
            </a:br>
            <a:r>
              <a:rPr lang="iw"/>
              <a:t>~235,000 in WA followed by ~100 in CA</a:t>
            </a:r>
            <a:br>
              <a:rPr lang="iw"/>
            </a:br>
            <a:r>
              <a:rPr lang="iw"/>
              <a:t>Any vehicles not from WA are outliers</a:t>
            </a:r>
            <a:endParaRPr/>
          </a:p>
        </p:txBody>
      </p:sp>
      <p:pic>
        <p:nvPicPr>
          <p:cNvPr id="114" name="Google Shape;11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21575" y="649950"/>
            <a:ext cx="3738349" cy="449355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21"/>
          <p:cNvSpPr txBox="1"/>
          <p:nvPr/>
        </p:nvSpPr>
        <p:spPr>
          <a:xfrm>
            <a:off x="6254825" y="214550"/>
            <a:ext cx="2412900" cy="2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>
                <a:solidFill>
                  <a:schemeClr val="dk2"/>
                </a:solidFill>
              </a:rPr>
              <a:t>WA Trimmed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16" name="Google Shape;116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23325" y="2234175"/>
            <a:ext cx="2898249" cy="2909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iw" sz="1950">
                <a:solidFill>
                  <a:srgbClr val="1F1F1F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Vehicles per WA County</a:t>
            </a:r>
            <a:endParaRPr/>
          </a:p>
        </p:txBody>
      </p:sp>
      <p:sp>
        <p:nvSpPr>
          <p:cNvPr id="122" name="Google Shape;122;p22"/>
          <p:cNvSpPr txBox="1"/>
          <p:nvPr>
            <p:ph idx="1" type="body"/>
          </p:nvPr>
        </p:nvSpPr>
        <p:spPr>
          <a:xfrm>
            <a:off x="311700" y="944100"/>
            <a:ext cx="8520600" cy="8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 sz="1500">
                <a:solidFill>
                  <a:srgbClr val="1F1F1F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Conclusion: King county has the most (118,711) by a large margin, followed by Snohomish Thus we can conclude that any vehicle not in King county is an outlier</a:t>
            </a:r>
            <a:endParaRPr sz="2100"/>
          </a:p>
        </p:txBody>
      </p:sp>
      <p:pic>
        <p:nvPicPr>
          <p:cNvPr id="123" name="Google Shape;12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4150" y="1692150"/>
            <a:ext cx="7582999" cy="322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08276" y="2146476"/>
            <a:ext cx="3035725" cy="29970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3"/>
          <p:cNvSpPr txBox="1"/>
          <p:nvPr>
            <p:ph idx="1" type="body"/>
          </p:nvPr>
        </p:nvSpPr>
        <p:spPr>
          <a:xfrm>
            <a:off x="311700" y="1152475"/>
            <a:ext cx="8832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 Tesla is the most popular make in the top 20 cities with the most vehicles</a:t>
            </a:r>
            <a:endParaRPr/>
          </a:p>
        </p:txBody>
      </p:sp>
      <p:pic>
        <p:nvPicPr>
          <p:cNvPr id="130" name="Google Shape;13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7637" y="1615900"/>
            <a:ext cx="3768736" cy="352760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iw" sz="1950">
                <a:solidFill>
                  <a:srgbClr val="1F1F1F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Vehicles per City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Vehicles per Electric Utility</a:t>
            </a:r>
            <a:endParaRPr/>
          </a:p>
        </p:txBody>
      </p:sp>
      <p:sp>
        <p:nvSpPr>
          <p:cNvPr id="137" name="Google Shape;137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>
                <a:solidFill>
                  <a:srgbClr val="1F1F1F"/>
                </a:solidFill>
                <a:latin typeface="Roboto"/>
                <a:ea typeface="Roboto"/>
                <a:cs typeface="Roboto"/>
                <a:sym typeface="Roboto"/>
              </a:rPr>
              <a:t>Conclusion: We see that 'Puget Sound Energy Inc' is the utility that service the most vehicles, followed </a:t>
            </a:r>
            <a:r>
              <a:rPr lang="iw">
                <a:solidFill>
                  <a:srgbClr val="1F1F1F"/>
                </a:solidFill>
                <a:latin typeface="Roboto"/>
                <a:ea typeface="Roboto"/>
                <a:cs typeface="Roboto"/>
                <a:sym typeface="Roboto"/>
              </a:rPr>
              <a:t>closely</a:t>
            </a:r>
            <a:r>
              <a:rPr lang="iw">
                <a:solidFill>
                  <a:srgbClr val="1F1F1F"/>
                </a:solidFill>
                <a:latin typeface="Roboto"/>
                <a:ea typeface="Roboto"/>
                <a:cs typeface="Roboto"/>
                <a:sym typeface="Roboto"/>
              </a:rPr>
              <a:t> by 'City of Tacoma'</a:t>
            </a:r>
            <a:endParaRPr/>
          </a:p>
        </p:txBody>
      </p:sp>
      <p:pic>
        <p:nvPicPr>
          <p:cNvPr id="138" name="Google Shape;13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3775" y="1959025"/>
            <a:ext cx="5316469" cy="3184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Vehicles per Electric Vehicle Type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Conclusion: ~80% of vehicles are Battery Electric Vehicle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iw"/>
              <a:t>1 out of 5 vehicles is Plug-in Hybrid Vehicle</a:t>
            </a:r>
            <a:endParaRPr/>
          </a:p>
        </p:txBody>
      </p:sp>
      <p:pic>
        <p:nvPicPr>
          <p:cNvPr id="145" name="Google Shape;14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54925" y="2216625"/>
            <a:ext cx="3577375" cy="235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71769" y="2216625"/>
            <a:ext cx="3175231" cy="235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5 Makes</a:t>
            </a:r>
            <a:endParaRPr/>
          </a:p>
        </p:txBody>
      </p:sp>
      <p:sp>
        <p:nvSpPr>
          <p:cNvPr id="152" name="Google Shape;152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</a:t>
            </a:r>
            <a:br>
              <a:rPr lang="iw"/>
            </a:br>
            <a:r>
              <a:rPr lang="iw"/>
              <a:t>Most vehicles are made by </a:t>
            </a:r>
            <a:br>
              <a:rPr lang="iw"/>
            </a:br>
            <a:r>
              <a:rPr lang="iw"/>
              <a:t>TESLA by a large margin </a:t>
            </a:r>
            <a:br>
              <a:rPr lang="iw"/>
            </a:br>
            <a:r>
              <a:rPr lang="iw"/>
              <a:t>followed by CHEVROLET </a:t>
            </a:r>
            <a:br>
              <a:rPr lang="iw"/>
            </a:br>
            <a:r>
              <a:rPr lang="iw"/>
              <a:t>and NISSAN.</a:t>
            </a:r>
            <a:endParaRPr/>
          </a:p>
        </p:txBody>
      </p:sp>
      <p:pic>
        <p:nvPicPr>
          <p:cNvPr id="153" name="Google Shape;15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9148" y="1017725"/>
            <a:ext cx="5476824" cy="407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5 Models</a:t>
            </a:r>
            <a:endParaRPr/>
          </a:p>
        </p:txBody>
      </p:sp>
      <p:sp>
        <p:nvSpPr>
          <p:cNvPr id="159" name="Google Shape;159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 The top models are Model Y and 3 by Tesla by a large margin followed by Leaf made </a:t>
            </a:r>
            <a:br>
              <a:rPr lang="iw"/>
            </a:br>
            <a:r>
              <a:rPr lang="iw"/>
              <a:t>by Nissan.</a:t>
            </a:r>
            <a:endParaRPr/>
          </a:p>
        </p:txBody>
      </p:sp>
      <p:pic>
        <p:nvPicPr>
          <p:cNvPr id="160" name="Google Shape;160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26251" y="1512650"/>
            <a:ext cx="6117749" cy="3630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Models per Make (top 3)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 Half of Tesla Models are Model Y, 42.5% of CHEVROLET Models are BOLT EV and ~90% of NISSAN models are LEAF.</a:t>
            </a:r>
            <a:endParaRPr/>
          </a:p>
        </p:txBody>
      </p:sp>
      <p:pic>
        <p:nvPicPr>
          <p:cNvPr id="167" name="Google Shape;16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33800" y="2189293"/>
            <a:ext cx="2946651" cy="29416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2206810"/>
            <a:ext cx="2946650" cy="29317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97350" y="2176750"/>
            <a:ext cx="2946650" cy="2966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Makes in each County (top 10)</a:t>
            </a:r>
            <a:endParaRPr/>
          </a:p>
        </p:txBody>
      </p:sp>
      <p:sp>
        <p:nvSpPr>
          <p:cNvPr id="175" name="Google Shape;175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 TESLA has the most vehicles in the top 10 </a:t>
            </a:r>
            <a:br>
              <a:rPr lang="iw"/>
            </a:br>
            <a:r>
              <a:rPr lang="iw"/>
              <a:t>Counties</a:t>
            </a:r>
            <a:endParaRPr/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98550" y="524825"/>
            <a:ext cx="2594750" cy="4487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Models in each County (top 10)</a:t>
            </a:r>
            <a:endParaRPr/>
          </a:p>
        </p:txBody>
      </p:sp>
      <p:sp>
        <p:nvSpPr>
          <p:cNvPr id="182" name="Google Shape;182;p3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 MODEL Y is the most popular in the top </a:t>
            </a:r>
            <a:br>
              <a:rPr lang="iw"/>
            </a:br>
            <a:r>
              <a:rPr lang="iw"/>
              <a:t>10 Counties</a:t>
            </a:r>
            <a:endParaRPr/>
          </a:p>
        </p:txBody>
      </p:sp>
      <p:pic>
        <p:nvPicPr>
          <p:cNvPr id="183" name="Google Shape;18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3225" y="1522624"/>
            <a:ext cx="2770775" cy="3620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Amount of Top 3 Make of each CAFV Eligibility</a:t>
            </a:r>
            <a:endParaRPr/>
          </a:p>
        </p:txBody>
      </p:sp>
      <p:sp>
        <p:nvSpPr>
          <p:cNvPr id="189" name="Google Shape;189;p31"/>
          <p:cNvSpPr txBox="1"/>
          <p:nvPr>
            <p:ph idx="1" type="body"/>
          </p:nvPr>
        </p:nvSpPr>
        <p:spPr>
          <a:xfrm>
            <a:off x="311700" y="941525"/>
            <a:ext cx="8520600" cy="355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 </a:t>
            </a:r>
            <a:br>
              <a:rPr lang="iw"/>
            </a:br>
            <a:r>
              <a:rPr lang="iw"/>
              <a:t>Most unknown </a:t>
            </a:r>
            <a:r>
              <a:rPr lang="iw"/>
              <a:t>eligibility</a:t>
            </a:r>
            <a:r>
              <a:rPr lang="iw"/>
              <a:t> are TESLA vehicles. </a:t>
            </a:r>
            <a:br>
              <a:rPr lang="iw"/>
            </a:br>
            <a:r>
              <a:rPr lang="iw"/>
              <a:t>Most eligible vehicles are by Tesla</a:t>
            </a:r>
            <a:br>
              <a:rPr lang="iw"/>
            </a:br>
            <a:r>
              <a:rPr lang="iw"/>
              <a:t>Most not eligible vehicles are by</a:t>
            </a:r>
            <a:br>
              <a:rPr lang="iw"/>
            </a:br>
            <a:r>
              <a:rPr lang="iw"/>
              <a:t>Jeep</a:t>
            </a:r>
            <a:endParaRPr/>
          </a:p>
        </p:txBody>
      </p:sp>
      <p:pic>
        <p:nvPicPr>
          <p:cNvPr id="190" name="Google Shape;190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25500" y="1927122"/>
            <a:ext cx="5418500" cy="3216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Mean of Top 3 Make of each CAFV Eligibility</a:t>
            </a:r>
            <a:endParaRPr/>
          </a:p>
        </p:txBody>
      </p:sp>
      <p:sp>
        <p:nvSpPr>
          <p:cNvPr id="196" name="Google Shape;196;p32"/>
          <p:cNvSpPr txBox="1"/>
          <p:nvPr>
            <p:ph idx="1" type="body"/>
          </p:nvPr>
        </p:nvSpPr>
        <p:spPr>
          <a:xfrm>
            <a:off x="0" y="1017725"/>
            <a:ext cx="3024600" cy="400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Conclusion: 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TESLA has the highest mean of Electric Range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Unknown </a:t>
            </a:r>
            <a:r>
              <a:rPr lang="iw"/>
              <a:t>eligibility</a:t>
            </a:r>
            <a:r>
              <a:rPr lang="iw"/>
              <a:t> has no known electric range.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Low battery not eligibility vehicles have lower electric range than </a:t>
            </a:r>
            <a:r>
              <a:rPr lang="iw"/>
              <a:t>eligible </a:t>
            </a:r>
            <a:r>
              <a:rPr lang="iw"/>
              <a:t>vehicles</a:t>
            </a:r>
            <a:endParaRPr/>
          </a:p>
        </p:txBody>
      </p:sp>
      <p:pic>
        <p:nvPicPr>
          <p:cNvPr id="197" name="Google Shape;197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24523" y="1420348"/>
            <a:ext cx="6119475" cy="372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models in each eligibility category - CAFV Eligible</a:t>
            </a:r>
            <a:endParaRPr/>
          </a:p>
        </p:txBody>
      </p:sp>
      <p:sp>
        <p:nvSpPr>
          <p:cNvPr id="203" name="Google Shape;203;p33"/>
          <p:cNvSpPr txBox="1"/>
          <p:nvPr>
            <p:ph idx="1" type="body"/>
          </p:nvPr>
        </p:nvSpPr>
        <p:spPr>
          <a:xfrm>
            <a:off x="311700" y="1152475"/>
            <a:ext cx="8520600" cy="6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iw" sz="1629"/>
              <a:t>Conclusion</a:t>
            </a:r>
            <a:r>
              <a:rPr lang="iw" sz="1629"/>
              <a:t>: The Tesla Model 3 is the top model that is Eligible with close to 14 thousands vehicles, followed by the Nissan Leaf with ~10 </a:t>
            </a:r>
            <a:r>
              <a:rPr lang="iw" sz="1629"/>
              <a:t>thousands vehicles</a:t>
            </a:r>
            <a:endParaRPr sz="1629"/>
          </a:p>
        </p:txBody>
      </p:sp>
      <p:pic>
        <p:nvPicPr>
          <p:cNvPr id="204" name="Google Shape;204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67900" y="1873050"/>
            <a:ext cx="6497150" cy="3204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2650"/>
              <a:t>Top models in each eligibility category - </a:t>
            </a:r>
            <a:r>
              <a:rPr lang="iw" sz="2133"/>
              <a:t>CAFV eligibility unknown</a:t>
            </a:r>
            <a:endParaRPr sz="2133"/>
          </a:p>
        </p:txBody>
      </p:sp>
      <p:sp>
        <p:nvSpPr>
          <p:cNvPr id="210" name="Google Shape;210;p34"/>
          <p:cNvSpPr txBox="1"/>
          <p:nvPr>
            <p:ph idx="1" type="body"/>
          </p:nvPr>
        </p:nvSpPr>
        <p:spPr>
          <a:xfrm>
            <a:off x="311700" y="1152475"/>
            <a:ext cx="8520600" cy="6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 The Tesla Model Y is the model that leads followed by the Model 3</a:t>
            </a:r>
            <a:endParaRPr/>
          </a:p>
        </p:txBody>
      </p:sp>
      <p:pic>
        <p:nvPicPr>
          <p:cNvPr id="211" name="Google Shape;211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59449" y="1747750"/>
            <a:ext cx="6884549" cy="3395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models in each eligibility category - Not CAFV eligible</a:t>
            </a:r>
            <a:endParaRPr/>
          </a:p>
        </p:txBody>
      </p:sp>
      <p:sp>
        <p:nvSpPr>
          <p:cNvPr id="217" name="Google Shape;217;p35"/>
          <p:cNvSpPr txBox="1"/>
          <p:nvPr>
            <p:ph idx="1" type="body"/>
          </p:nvPr>
        </p:nvSpPr>
        <p:spPr>
          <a:xfrm>
            <a:off x="311700" y="1152475"/>
            <a:ext cx="8520600" cy="6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 The JEEP Wrangler is the top model that is not eligible with over 4 thousands vehicles, followed by the Toyota Prius Prime with ~3600 vehicles</a:t>
            </a:r>
            <a:endParaRPr/>
          </a:p>
        </p:txBody>
      </p:sp>
      <p:pic>
        <p:nvPicPr>
          <p:cNvPr id="218" name="Google Shape;218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4274" y="1804375"/>
            <a:ext cx="6769724" cy="333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6"/>
          <p:cNvSpPr txBox="1"/>
          <p:nvPr>
            <p:ph type="title"/>
          </p:nvPr>
        </p:nvSpPr>
        <p:spPr>
          <a:xfrm>
            <a:off x="311700" y="445025"/>
            <a:ext cx="8520600" cy="335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 sz="7600"/>
              <a:t>THANKS FOR LISTENING</a:t>
            </a:r>
            <a:endParaRPr sz="7600"/>
          </a:p>
        </p:txBody>
      </p:sp>
      <p:pic>
        <p:nvPicPr>
          <p:cNvPr id="224" name="Google Shape;224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398510">
            <a:off x="0" y="3912572"/>
            <a:ext cx="4572001" cy="12309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