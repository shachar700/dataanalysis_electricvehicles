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embeddedFontLst>
    <p:embeddedFont>
      <p:font typeface="Roboto" panose="020B060402020202020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A01AFC5-6646-4A61-BB2E-F47871C702AD}">
  <a:tblStyle styleId="{2A01AFC5-6646-4A61-BB2E-F47871C702A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114" y="2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da4827f45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5da4827f45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da4827f4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da4827f4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5da4827f4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5da4827f4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5da4827f45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5da4827f45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5da4827f45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5da4827f45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5da4827f4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5da4827f4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5da4827f45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5da4827f45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5da4827f45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5da4827f45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5da4827f45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5da4827f45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5da4827f45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5da4827f45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5da4827f45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5da4827f45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5da4827f45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5da4827f45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5da4827f45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5da4827f45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5da4827f45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5da4827f45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5da4827f45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5da4827f45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5da4827f45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5da4827f45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5da4827f45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5da4827f45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5da4827f45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5da4827f45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1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התייחסות לערכי 0 למצב בטריה לא ידוע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da4827f45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5da4827f45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5da4827f45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5da4827f45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5da4827f45_2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5da4827f45_2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5da4827f45_2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5da4827f45_2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5da4827f45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5da4827f45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C9DAF8"/>
            </a:gs>
            <a:gs pos="100000">
              <a:schemeClr val="lt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lab.research.google.com/drive/1IZluGjST-g406fcuba5vIkrgK7rjw2uS?usp=sharing" TargetMode="External"/><Relationship Id="rId4" Type="http://schemas.openxmlformats.org/officeDocument/2006/relationships/hyperlink" Target="https://github.com/shachar700/DataAnalysis_ElectricVehicles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atalog.data.gov/dataset/electric-vehicle-population-dat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Data Analysis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w"/>
              <a:t>Electric Vehicles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Shahar Berenson	208608414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Shlomi Fridman		318187002</a:t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101000" y="3988300"/>
            <a:ext cx="942000" cy="3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4"/>
              </a:rPr>
              <a:t>GitHub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931050" y="4376650"/>
            <a:ext cx="1281900" cy="3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hlink"/>
                </a:solidFill>
                <a:hlinkClick r:id="rId5"/>
              </a:rPr>
              <a:t>Notebook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title" idx="4294967295"/>
          </p:nvPr>
        </p:nvSpPr>
        <p:spPr>
          <a:xfrm>
            <a:off x="311700" y="445025"/>
            <a:ext cx="1898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iw"/>
              <a:t>Members</a:t>
            </a:r>
            <a:endParaRPr sz="2300" b="1"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body" idx="4294967295"/>
          </p:nvPr>
        </p:nvSpPr>
        <p:spPr>
          <a:xfrm>
            <a:off x="808700" y="4624400"/>
            <a:ext cx="3629100" cy="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Shahar Berenson</a:t>
            </a:r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788" y="976313"/>
            <a:ext cx="3629025" cy="364807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body" idx="4294967295"/>
          </p:nvPr>
        </p:nvSpPr>
        <p:spPr>
          <a:xfrm>
            <a:off x="4870888" y="4624400"/>
            <a:ext cx="3629100" cy="4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Shlomi Fridman</a:t>
            </a:r>
            <a:endParaRPr/>
          </a:p>
        </p:txBody>
      </p:sp>
      <p:pic>
        <p:nvPicPr>
          <p:cNvPr id="67" name="Google Shape;67;p14" title="file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70900" y="985800"/>
            <a:ext cx="3629100" cy="362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Introduction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lang="iw" sz="2300" b="1"/>
              <a:t>Electric Vehicle Population Data</a:t>
            </a:r>
            <a:endParaRPr sz="2300" b="1"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311700" y="1613400"/>
            <a:ext cx="8520600" cy="29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This dataset shows the Battery Electric Vehicles (BEVs) and Plug-in Hybrid Electric Vehicles (PHEVs) that are currently registered through Washington State Department of Licensing (DOL).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w" u="sng">
                <a:solidFill>
                  <a:schemeClr val="hlink"/>
                </a:solidFill>
                <a:hlinkClick r:id="rId3"/>
              </a:rPr>
              <a:t>Source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metadata: May 17th 2025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246,138 rows x 17 columns</a:t>
            </a:r>
            <a:endParaRPr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(1)</a:t>
            </a:r>
            <a:endParaRPr/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311700" y="789125"/>
          <a:ext cx="7239000" cy="3992820"/>
        </p:xfrm>
        <a:graphic>
          <a:graphicData uri="http://schemas.openxmlformats.org/drawingml/2006/table">
            <a:tbl>
              <a:tblPr>
                <a:noFill/>
                <a:tableStyleId>{2A01AFC5-6646-4A61-BB2E-F47871C702AD}</a:tableStyleId>
              </a:tblPr>
              <a:tblGrid>
                <a:gridCol w="201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b="1"/>
                        <a:t>Feature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b="1"/>
                        <a:t>Description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VIN (1-10)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First 10 characters of the Vehicle Identification Number.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County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county where the vehicle is registered or located.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City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city where the vehicle is registered or located.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State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U.S. state abbreviation (e.g., WA for Washington).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Postal Code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ZIP/postal code of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 Year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year the vehicle was manufactured.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Make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manufacturer (e.g., Tesla, Nissan).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specific model of the car (e.g., Model 3, Leaf).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Vehicle Type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Type of EV (Battery Electric Vehicle (BEV), Plug-in Hybrid Electric Vehicle (PHEV)).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311700" y="1592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Features (2)</a:t>
            </a:r>
            <a:endParaRPr/>
          </a:p>
        </p:txBody>
      </p:sp>
      <p:graphicFrame>
        <p:nvGraphicFramePr>
          <p:cNvPr id="86" name="Google Shape;86;p17"/>
          <p:cNvGraphicFramePr/>
          <p:nvPr/>
        </p:nvGraphicFramePr>
        <p:xfrm>
          <a:off x="311700" y="789125"/>
          <a:ext cx="7239000" cy="3779430"/>
        </p:xfrm>
        <a:graphic>
          <a:graphicData uri="http://schemas.openxmlformats.org/drawingml/2006/table">
            <a:tbl>
              <a:tblPr>
                <a:noFill/>
                <a:tableStyleId>{2A01AFC5-6646-4A61-BB2E-F47871C702AD}</a:tableStyleId>
              </a:tblPr>
              <a:tblGrid>
                <a:gridCol w="20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b="1"/>
                        <a:t>Feature</a:t>
                      </a:r>
                      <a:endParaRPr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b="1"/>
                        <a:t>Description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Clean Alternative Fuel Vehicle (CAFV) Eligibility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Indicates whether the vehicle qualifies under CAFV rules.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Range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How many miles the vehicle can travel on electricity alone.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Base MSRP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Manufacturer's Suggested Retail Price at base level (starting price).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Legislative district associated with the vehicle's location.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DOL Vehicle ID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Department of Licensing Vehicle ID (state-assigned).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Vehicle Location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More detailed info about where the vehicle is located.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Electric Utility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 electric company servicing that area.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2020 Census Tract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" sz="1200">
                          <a:solidFill>
                            <a:srgbClr val="1F1F1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Census tract identifier from the 2020 census (used for demographic/geographic analysis).</a:t>
                      </a:r>
                      <a:endParaRPr sz="1200">
                        <a:solidFill>
                          <a:srgbClr val="1F1F1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Dropped Features</a:t>
            </a:r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We didn’t find interesting details about the following features, so we chose to drop them: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Base MSRP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Vehicle Location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DOL Vehicle ID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2020 Census Tract</a:t>
            </a:r>
            <a:endParaRPr/>
          </a:p>
        </p:txBody>
      </p: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025" y="3501250"/>
            <a:ext cx="8520601" cy="68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2980" y="4288175"/>
            <a:ext cx="2838047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Missing Values</a:t>
            </a:r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132700" cy="28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only missing values we cared about were the County and City values, thus we chose to drop those rows.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The missing values in Electric Range and Base MSRP were indication that the data was unknown, which we used in statistics later 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37713" y="4299174"/>
            <a:ext cx="207645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תמונה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278" y="3968325"/>
            <a:ext cx="5912597" cy="979485"/>
          </a:xfrm>
          <a:prstGeom prst="rect">
            <a:avLst/>
          </a:prstGeom>
        </p:spPr>
      </p:pic>
      <p:pic>
        <p:nvPicPr>
          <p:cNvPr id="3" name="תמונה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5156" y="192505"/>
            <a:ext cx="2793566" cy="400845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Questions</a:t>
            </a:r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The questions we’ve had about the dataset were: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State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WA County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City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Utility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Vehicles per Electric Vehicle Type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Top 5 makes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>
                <a:solidFill>
                  <a:srgbClr val="38761D"/>
                </a:solidFill>
              </a:rPr>
              <a:t>Top 5 models</a:t>
            </a:r>
            <a:endParaRPr>
              <a:solidFill>
                <a:srgbClr val="38761D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Models per Make (top 3)</a:t>
            </a:r>
            <a:endParaRPr>
              <a:solidFill>
                <a:srgbClr val="FF99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Make per County (top 10)</a:t>
            </a:r>
            <a:endParaRPr>
              <a:solidFill>
                <a:srgbClr val="FF99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>
                <a:solidFill>
                  <a:srgbClr val="FF9900"/>
                </a:solidFill>
              </a:rPr>
              <a:t>Top Models per County (top 10)</a:t>
            </a:r>
            <a:endParaRPr>
              <a:solidFill>
                <a:srgbClr val="FF99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Top 3 Make per CAFV Eligibility</a:t>
            </a:r>
            <a:endParaRPr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Mean Electric Range of Top 3 Make per CAFV Eligibility</a:t>
            </a:r>
            <a:endParaRPr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>
                <a:solidFill>
                  <a:srgbClr val="FF0000"/>
                </a:solidFill>
              </a:rPr>
              <a:t>Top models of Make per CAFV Eligibility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7154975" y="0"/>
            <a:ext cx="1863000" cy="15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 u="sng">
                <a:solidFill>
                  <a:schemeClr val="dk2"/>
                </a:solidFill>
              </a:rPr>
              <a:t>Legend</a:t>
            </a:r>
            <a:r>
              <a:rPr lang="iw" sz="1800">
                <a:solidFill>
                  <a:schemeClr val="dk2"/>
                </a:solidFill>
              </a:rPr>
              <a:t>: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1800"/>
              <a:buChar char="●"/>
            </a:pPr>
            <a:r>
              <a:rPr lang="iw" sz="1800">
                <a:solidFill>
                  <a:srgbClr val="38761D"/>
                </a:solidFill>
              </a:rPr>
              <a:t>Univariate</a:t>
            </a:r>
            <a:endParaRPr sz="1800">
              <a:solidFill>
                <a:srgbClr val="38761D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800"/>
              <a:buChar char="●"/>
            </a:pPr>
            <a:r>
              <a:rPr lang="iw" sz="1800">
                <a:solidFill>
                  <a:srgbClr val="FF9900"/>
                </a:solidFill>
              </a:rPr>
              <a:t>Bivariate</a:t>
            </a:r>
            <a:endParaRPr sz="1800">
              <a:solidFill>
                <a:srgbClr val="FF9900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Char char="●"/>
            </a:pPr>
            <a:r>
              <a:rPr lang="iw" sz="1800">
                <a:solidFill>
                  <a:srgbClr val="FF0000"/>
                </a:solidFill>
              </a:rPr>
              <a:t>Multivariate</a:t>
            </a:r>
            <a:endParaRPr sz="180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State</a:t>
            </a:r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010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Most vehicles in the databset are from from Washington, roughly ~235,000 in WA followed by ~100 in CA</a:t>
            </a:r>
            <a:br>
              <a:rPr lang="iw"/>
            </a:br>
            <a:r>
              <a:rPr lang="iw"/>
              <a:t>Thus we concluded that vehicles not from WA are outliers</a:t>
            </a:r>
            <a:endParaRPr/>
          </a:p>
        </p:txBody>
      </p:sp>
      <p:pic>
        <p:nvPicPr>
          <p:cNvPr id="117" name="Google Shape;1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21575" y="649950"/>
            <a:ext cx="3738349" cy="44935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/>
          <p:nvPr/>
        </p:nvSpPr>
        <p:spPr>
          <a:xfrm>
            <a:off x="6254825" y="214550"/>
            <a:ext cx="2412900" cy="29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WA Trimmed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5511" y="2858725"/>
            <a:ext cx="2276075" cy="228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Vehicles per WA County</a:t>
            </a:r>
            <a:endParaRPr/>
          </a:p>
        </p:txBody>
      </p:sp>
      <p:sp>
        <p:nvSpPr>
          <p:cNvPr id="125" name="Google Shape;125;p22"/>
          <p:cNvSpPr txBox="1">
            <a:spLocks noGrp="1"/>
          </p:cNvSpPr>
          <p:nvPr>
            <p:ph type="body" idx="1"/>
          </p:nvPr>
        </p:nvSpPr>
        <p:spPr>
          <a:xfrm>
            <a:off x="311700" y="944100"/>
            <a:ext cx="8520600" cy="89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50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Conclusion: King county has the most (118,711) by a </a:t>
            </a:r>
            <a:r>
              <a:rPr lang="iw" sz="1500" b="1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large </a:t>
            </a:r>
            <a:r>
              <a:rPr lang="iw" sz="1500">
                <a:solidFill>
                  <a:srgbClr val="1F1F1F"/>
                </a:solidFill>
                <a:latin typeface="Roboto"/>
                <a:ea typeface="Roboto"/>
                <a:cs typeface="Roboto"/>
                <a:sym typeface="Roboto"/>
              </a:rPr>
              <a:t>margin, followed by Snohomish Thus we can conclude that any vehicle not in King county is a minor outlier in the dataset</a:t>
            </a:r>
            <a:endParaRPr sz="2100"/>
          </a:p>
        </p:txBody>
      </p:sp>
      <p:pic>
        <p:nvPicPr>
          <p:cNvPr id="126" name="Google Shape;12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150" y="1692150"/>
            <a:ext cx="7582999" cy="32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8276" y="2146476"/>
            <a:ext cx="3035725" cy="2997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832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Tesla is the most popular make in the top 20 cities by a large margin</a:t>
            </a:r>
            <a:endParaRPr/>
          </a:p>
        </p:txBody>
      </p:sp>
      <p:pic>
        <p:nvPicPr>
          <p:cNvPr id="133" name="Google Shape;13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7637" y="1615900"/>
            <a:ext cx="3768736" cy="35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iw" sz="1950">
                <a:solidFill>
                  <a:srgbClr val="1F1F1F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Vehicles per City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Utility</a:t>
            </a:r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>
                <a:latin typeface="Roboto"/>
                <a:ea typeface="Roboto"/>
                <a:cs typeface="Roboto"/>
                <a:sym typeface="Roboto"/>
              </a:rPr>
              <a:t>Conclusion: We see that 'Puget Sound Energy Inc' is the utility that service the most vehicles, followed closely by 'City of Tacoma'</a:t>
            </a:r>
            <a:endParaRPr/>
          </a:p>
        </p:txBody>
      </p:sp>
      <p:pic>
        <p:nvPicPr>
          <p:cNvPr id="141" name="Google Shape;14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3775" y="1959025"/>
            <a:ext cx="5316469" cy="318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Vehicles per Electric Vehicle Type</a:t>
            </a:r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~80% of vehicles are Battery Electric Vehicle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1 out of 5 vehicles is Plug-in Hybrid Vehicle</a:t>
            </a:r>
            <a:endParaRPr/>
          </a:p>
        </p:txBody>
      </p:sp>
      <p:pic>
        <p:nvPicPr>
          <p:cNvPr id="148" name="Google Shape;148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54925" y="2216625"/>
            <a:ext cx="3577375" cy="235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69" y="2216625"/>
            <a:ext cx="3175231" cy="235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Makes</a:t>
            </a:r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257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</a:t>
            </a:r>
            <a:br>
              <a:rPr lang="iw"/>
            </a:br>
            <a:r>
              <a:rPr lang="iw"/>
              <a:t>TESLA is the top Make in the dataset by a large margin, </a:t>
            </a:r>
            <a:br>
              <a:rPr lang="iw"/>
            </a:br>
            <a:r>
              <a:rPr lang="iw"/>
              <a:t>followed by CHEVROLET </a:t>
            </a:r>
            <a:br>
              <a:rPr lang="iw"/>
            </a:br>
            <a:r>
              <a:rPr lang="iw"/>
              <a:t>and NISSAN.</a:t>
            </a:r>
            <a:endParaRPr/>
          </a:p>
        </p:txBody>
      </p:sp>
      <p:pic>
        <p:nvPicPr>
          <p:cNvPr id="156" name="Google Shape;1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9148" y="1017725"/>
            <a:ext cx="5476824" cy="407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5 Models</a:t>
            </a:r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9751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iw"/>
              <a:t>The top models are Model Y and 3 of TESLA followed by Leaf of Nissan.</a:t>
            </a:r>
            <a:endParaRPr/>
          </a:p>
        </p:txBody>
      </p:sp>
      <p:pic>
        <p:nvPicPr>
          <p:cNvPr id="163" name="Google Shape;16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6800" y="1289500"/>
            <a:ext cx="5525524" cy="3279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Models per Make (top 3 Make)</a:t>
            </a:r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48.7% of Tesla Models are the Model 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42.5% of CHEVROLET Models are BOLT EV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w"/>
              <a:t>88.9% of NISSAN models are LEAF.</a:t>
            </a:r>
            <a:endParaRPr/>
          </a:p>
        </p:txBody>
      </p:sp>
      <p:pic>
        <p:nvPicPr>
          <p:cNvPr id="170" name="Google Shape;17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48550" y="2645095"/>
            <a:ext cx="2492025" cy="2487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6425" y="2664087"/>
            <a:ext cx="2492025" cy="247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00675" y="2634500"/>
            <a:ext cx="2492025" cy="250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Makes in WA Counties</a:t>
            </a:r>
            <a:endParaRPr/>
          </a:p>
        </p:txBody>
      </p:sp>
      <p:sp>
        <p:nvSpPr>
          <p:cNvPr id="178" name="Google Shape;178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085900" cy="9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520"/>
              <a:t>Conclusion: TESLA is leading in the top 10 counties and in 95% of all counties in Washington (WA)</a:t>
            </a:r>
            <a:endParaRPr sz="1620"/>
          </a:p>
        </p:txBody>
      </p:sp>
      <p:pic>
        <p:nvPicPr>
          <p:cNvPr id="179" name="Google Shape;17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2525" y="524825"/>
            <a:ext cx="2110775" cy="365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>
            <a:off x="3512575" y="1754325"/>
            <a:ext cx="3270300" cy="130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320"/>
              <a:t>And the only county TESLA isn’t in the lead is Garfield</a:t>
            </a:r>
            <a:endParaRPr sz="1420"/>
          </a:p>
        </p:txBody>
      </p:sp>
      <p:pic>
        <p:nvPicPr>
          <p:cNvPr id="181" name="Google Shape;1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20425" y="2352679"/>
            <a:ext cx="1721708" cy="134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754322"/>
            <a:ext cx="3200887" cy="3389174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9"/>
          <p:cNvSpPr txBox="1">
            <a:spLocks noGrp="1"/>
          </p:cNvSpPr>
          <p:nvPr>
            <p:ph type="body" idx="1"/>
          </p:nvPr>
        </p:nvSpPr>
        <p:spPr>
          <a:xfrm>
            <a:off x="3562400" y="3697500"/>
            <a:ext cx="3270300" cy="7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iw" sz="1300"/>
              <a:t>And TESLA is actually tied with FORD in Columbia</a:t>
            </a:r>
            <a:endParaRPr sz="1420"/>
          </a:p>
        </p:txBody>
      </p:sp>
      <p:pic>
        <p:nvPicPr>
          <p:cNvPr id="184" name="Google Shape;184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16824" y="4175605"/>
            <a:ext cx="1528900" cy="9719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WA Counties</a:t>
            </a:r>
            <a:endParaRPr/>
          </a:p>
        </p:txBody>
      </p:sp>
      <p:sp>
        <p:nvSpPr>
          <p:cNvPr id="190" name="Google Shape;190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05600" cy="8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 sz="1500"/>
              <a:t>Conclusion: The Model Y is the most popular in the top 10 counties and is the top model in 59% of all counties in Washington (WA).</a:t>
            </a:r>
            <a:endParaRPr sz="1500"/>
          </a:p>
        </p:txBody>
      </p:sp>
      <p:pic>
        <p:nvPicPr>
          <p:cNvPr id="191" name="Google Shape;19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3225" y="1522624"/>
            <a:ext cx="2770775" cy="362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7275" y="2058925"/>
            <a:ext cx="3692149" cy="281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Amount of Top 3 Make of each CAFV Eligibility</a:t>
            </a:r>
            <a:endParaRPr/>
          </a:p>
        </p:txBody>
      </p:sp>
      <p:sp>
        <p:nvSpPr>
          <p:cNvPr id="198" name="Google Shape;198;p31"/>
          <p:cNvSpPr txBox="1">
            <a:spLocks noGrp="1"/>
          </p:cNvSpPr>
          <p:nvPr>
            <p:ph type="body" idx="1"/>
          </p:nvPr>
        </p:nvSpPr>
        <p:spPr>
          <a:xfrm>
            <a:off x="311700" y="941525"/>
            <a:ext cx="4683600" cy="15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1600"/>
              <a:t>Conclusion: </a:t>
            </a:r>
            <a:endParaRPr sz="1600"/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unknown eligibility are TESLA vehicles. 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eligible vehicles are by Tesla</a:t>
            </a:r>
            <a:endParaRPr sz="1600"/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iw" sz="1600"/>
              <a:t>Most not eligible vehicles are by Jeep</a:t>
            </a:r>
            <a:endParaRPr sz="1600"/>
          </a:p>
        </p:txBody>
      </p:sp>
      <p:pic>
        <p:nvPicPr>
          <p:cNvPr id="199" name="Google Shape;199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1050" y="2262825"/>
            <a:ext cx="4852949" cy="288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Mean of Top 3 Make of each CAFV Eligibility</a:t>
            </a:r>
            <a:endParaRPr/>
          </a:p>
        </p:txBody>
      </p:sp>
      <p:sp>
        <p:nvSpPr>
          <p:cNvPr id="205" name="Google Shape;205;p32"/>
          <p:cNvSpPr txBox="1">
            <a:spLocks noGrp="1"/>
          </p:cNvSpPr>
          <p:nvPr>
            <p:ph type="body" idx="1"/>
          </p:nvPr>
        </p:nvSpPr>
        <p:spPr>
          <a:xfrm>
            <a:off x="0" y="1017725"/>
            <a:ext cx="3024600" cy="400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Conclusion:  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TESLA has the highest mean of Electric Range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Unknown eligibility has no known electric range.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iw"/>
              <a:t>Low battery not eligibility vehicles have lower electric range than eligible vehicles</a:t>
            </a:r>
            <a:endParaRPr/>
          </a:p>
        </p:txBody>
      </p:sp>
      <p:pic>
        <p:nvPicPr>
          <p:cNvPr id="206" name="Google Shape;20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4523" y="1420348"/>
            <a:ext cx="6119475" cy="37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CAFV Eligible</a:t>
            </a:r>
            <a:endParaRPr/>
          </a:p>
        </p:txBody>
      </p:sp>
      <p:sp>
        <p:nvSpPr>
          <p:cNvPr id="212" name="Google Shape;212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iw" sz="1629"/>
              <a:t>Conclusion: The Tesla Model 3 is the top model that is Eligible with close to 14 thousands vehicles, followed by the Nissan Leaf with ~10 thousands vehicles</a:t>
            </a:r>
            <a:endParaRPr sz="1629"/>
          </a:p>
        </p:txBody>
      </p:sp>
      <p:pic>
        <p:nvPicPr>
          <p:cNvPr id="213" name="Google Shape;21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7900" y="1873050"/>
            <a:ext cx="6497150" cy="320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2650"/>
              <a:t>Top models in each eligibility category - </a:t>
            </a:r>
            <a:r>
              <a:rPr lang="iw" sz="2133"/>
              <a:t>CAFV eligibility unknown</a:t>
            </a:r>
            <a:endParaRPr sz="2133"/>
          </a:p>
        </p:txBody>
      </p:sp>
      <p:sp>
        <p:nvSpPr>
          <p:cNvPr id="219" name="Google Shape;219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Tesla Model Y is the model that leads followed by the Model 3</a:t>
            </a:r>
            <a:endParaRPr/>
          </a:p>
        </p:txBody>
      </p:sp>
      <p:pic>
        <p:nvPicPr>
          <p:cNvPr id="220" name="Google Shape;22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9449" y="1747750"/>
            <a:ext cx="6884549" cy="339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Top models in each eligibility category - Not CAFV eligible</a:t>
            </a:r>
            <a:endParaRPr/>
          </a:p>
        </p:txBody>
      </p:sp>
      <p:sp>
        <p:nvSpPr>
          <p:cNvPr id="226" name="Google Shape;226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6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iw"/>
              <a:t>Conclusion: The JEEP Wrangler is the top model that is not eligible with over 4 thousands vehicles, followed by the Toyota Prius Prime with ~3600 vehicles</a:t>
            </a:r>
            <a:endParaRPr/>
          </a:p>
        </p:txBody>
      </p:sp>
      <p:pic>
        <p:nvPicPr>
          <p:cNvPr id="227" name="Google Shape;227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4274" y="1804375"/>
            <a:ext cx="6769724" cy="333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35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w" sz="7600"/>
              <a:t>THANKS FOR LISTENING</a:t>
            </a:r>
            <a:endParaRPr sz="7600"/>
          </a:p>
        </p:txBody>
      </p:sp>
      <p:pic>
        <p:nvPicPr>
          <p:cNvPr id="233" name="Google Shape;23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398510">
            <a:off x="0" y="3912572"/>
            <a:ext cx="4572001" cy="1230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917</Words>
  <Application>Microsoft Office PowerPoint</Application>
  <PresentationFormat>‫הצגה על המסך (16:9)</PresentationFormat>
  <Paragraphs>130</Paragraphs>
  <Slides>24</Slides>
  <Notes>24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24</vt:i4>
      </vt:variant>
    </vt:vector>
  </HeadingPairs>
  <TitlesOfParts>
    <vt:vector size="27" baseType="lpstr">
      <vt:lpstr>Arial</vt:lpstr>
      <vt:lpstr>Roboto</vt:lpstr>
      <vt:lpstr>Simple Light</vt:lpstr>
      <vt:lpstr>Data Analysis Electric Vehicles</vt:lpstr>
      <vt:lpstr>Members </vt:lpstr>
      <vt:lpstr>Introduction Electric Vehicle Population Data </vt:lpstr>
      <vt:lpstr>Features (1)</vt:lpstr>
      <vt:lpstr>Features (2)</vt:lpstr>
      <vt:lpstr>Dropped Features</vt:lpstr>
      <vt:lpstr>Missing Values</vt:lpstr>
      <vt:lpstr>Questions</vt:lpstr>
      <vt:lpstr>Vehicles per State</vt:lpstr>
      <vt:lpstr>Vehicles per WA County</vt:lpstr>
      <vt:lpstr>Vehicles per City</vt:lpstr>
      <vt:lpstr>Vehicles per Electric Utility</vt:lpstr>
      <vt:lpstr>Vehicles per Electric Vehicle Type</vt:lpstr>
      <vt:lpstr>Top 5 Makes</vt:lpstr>
      <vt:lpstr>Top 5 Models</vt:lpstr>
      <vt:lpstr>Models per Make (top 3 Make)</vt:lpstr>
      <vt:lpstr>Top Makes in WA Counties</vt:lpstr>
      <vt:lpstr>Top Models in WA Counties</vt:lpstr>
      <vt:lpstr>Amount of Top 3 Make of each CAFV Eligibility</vt:lpstr>
      <vt:lpstr>Mean of Top 3 Make of each CAFV Eligibility</vt:lpstr>
      <vt:lpstr>Top models in each eligibility category - CAFV Eligible</vt:lpstr>
      <vt:lpstr>Top models in each eligibility category - CAFV eligibility unknown</vt:lpstr>
      <vt:lpstr>Top models in each eligibility category - Not CAFV eligible</vt:lpstr>
      <vt:lpstr>THANKS FOR LISTENING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Electric Vehicles</dc:title>
  <cp:lastModifiedBy>Shlomi</cp:lastModifiedBy>
  <cp:revision>1</cp:revision>
  <dcterms:modified xsi:type="dcterms:W3CDTF">2025-06-12T14:41:42Z</dcterms:modified>
</cp:coreProperties>
</file>