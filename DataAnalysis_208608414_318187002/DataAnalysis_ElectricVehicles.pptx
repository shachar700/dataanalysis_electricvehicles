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01AFC5-6646-4A61-BB2E-F47871C702AD}">
  <a:tblStyle styleId="{2A01AFC5-6646-4A61-BB2E-F47871C702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da4827f4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da4827f4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da4827f4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da4827f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da4827f4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da4827f4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da4827f4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da4827f4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da4827f4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da4827f4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da4827f4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da4827f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4827f45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da4827f45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da4827f4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da4827f4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da4827f4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da4827f4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da4827f4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da4827f4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da4827f4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da4827f4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da4827f4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da4827f4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da4827f4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da4827f4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da4827f4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da4827f4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da4827f4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da4827f4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da4827f4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da4827f4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a4827f4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da4827f4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da4827f4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da4827f4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התייחסות לערכי 0 למצב בטריה לא ידוע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da4827f4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da4827f4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da4827f4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da4827f4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da4827f45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da4827f45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da4827f45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da4827f4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da4827f4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da4827f4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C9DAF8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hyperlink" Target="https://github.com/shachar700/DataAnalysis_ElectricVehicles" TargetMode="External"/><Relationship Id="rId5" Type="http://schemas.openxmlformats.org/officeDocument/2006/relationships/hyperlink" Target="https://colab.research.google.com/drive/1IZluGjST-g406fcuba5vIkrgK7rjw2uS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atalog.data.gov/dataset/electric-vehicle-population-data" TargetMode="Externa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Data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Electric Vehicles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Shahar Berenson	208608414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Shlomi </a:t>
            </a:r>
            <a:r>
              <a:rPr lang="iw"/>
              <a:t>Fridman</a:t>
            </a:r>
            <a:r>
              <a:rPr lang="iw"/>
              <a:t>		318187002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8510">
            <a:off x="0" y="3912572"/>
            <a:ext cx="4572001" cy="123092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101000" y="3988300"/>
            <a:ext cx="9420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hlink"/>
                </a:solidFill>
                <a:hlinkClick r:id="rId4"/>
              </a:rPr>
              <a:t>GitHub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931050" y="4376650"/>
            <a:ext cx="1281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hlink"/>
                </a:solidFill>
                <a:hlinkClick r:id="rId5"/>
              </a:rPr>
              <a:t>Notebook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4294967295" type="title"/>
          </p:nvPr>
        </p:nvSpPr>
        <p:spPr>
          <a:xfrm>
            <a:off x="311700" y="445025"/>
            <a:ext cx="189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w"/>
              <a:t>Members</a:t>
            </a:r>
            <a:endParaRPr b="1" sz="2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4294967295" type="body"/>
          </p:nvPr>
        </p:nvSpPr>
        <p:spPr>
          <a:xfrm>
            <a:off x="808700" y="4624400"/>
            <a:ext cx="36291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Shahar Berenson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788" y="976313"/>
            <a:ext cx="3629025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4294967295" type="body"/>
          </p:nvPr>
        </p:nvSpPr>
        <p:spPr>
          <a:xfrm>
            <a:off x="4870888" y="4624400"/>
            <a:ext cx="36291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Shlomi Fridman</a:t>
            </a:r>
            <a:endParaRPr/>
          </a:p>
        </p:txBody>
      </p:sp>
      <p:pic>
        <p:nvPicPr>
          <p:cNvPr id="67" name="Google Shape;67;p14" title="fil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900" y="985800"/>
            <a:ext cx="3629100" cy="36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Introduction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iw" sz="2300"/>
              <a:t>Electric Vehicle Population Data</a:t>
            </a:r>
            <a:endParaRPr b="1" sz="2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613400"/>
            <a:ext cx="8520600" cy="29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This dataset shows the Battery Electric Vehicles (BEVs) and Plug-in Hybrid Electric Vehicles (PHEVs) that are currently registered through Washington State Department of Licensing (DOL).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u="sng">
                <a:solidFill>
                  <a:schemeClr val="hlink"/>
                </a:solidFill>
                <a:hlinkClick r:id="rId3"/>
              </a:rPr>
              <a:t>Source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metadata: May 17th 2025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246,138 rows x </a:t>
            </a:r>
            <a:r>
              <a:rPr lang="iw"/>
              <a:t>17 columns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98510">
            <a:off x="0" y="3912572"/>
            <a:ext cx="4572001" cy="123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5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Features (1)</a:t>
            </a:r>
            <a:endParaRPr/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311700" y="78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{2A01AFC5-6646-4A61-BB2E-F47871C702AD}</a:tableStyleId>
              </a:tblPr>
              <a:tblGrid>
                <a:gridCol w="2019075"/>
                <a:gridCol w="5219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Feature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VIN (1-10)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First 10 characters of the Vehicle Identification Number.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county where the vehicle is registered or located.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city where the vehicle is registered or located.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U.S. state abbreviation (e.g., WA for Washington).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Postal Code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ZIP/postal code of the vehicle's location.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Year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year the vehicle was manufactured.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manufacturer (e.g., Tesla, Nissan).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specific model of the car (e.g., Model 3, Leaf).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Electric Vehicle Type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EV (Battery Electric Vehicle (BEV), Plug-in Hybrid Electric Vehicle (PHEV)).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5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Features (2)</a:t>
            </a:r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311700" y="78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{2A01AFC5-6646-4A61-BB2E-F47871C702AD}</a:tableStyleId>
              </a:tblPr>
              <a:tblGrid>
                <a:gridCol w="2019050"/>
                <a:gridCol w="521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Feature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Clean Alternative Fuel Vehicle (CAFV) Eligibility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Indicates whether the vehicle qualifies under CAFV rules.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Electric Range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miles the vehicle can travel on electricity alone.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MSRP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Manufacturer's Suggested Retail Price at base level (starting price).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Legislative District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Legislative district associated with the vehicle's location.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DOL Vehicle ID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Department of Licensing Vehicle ID (state-assigned).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Vehicle Location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More detailed info about where the vehicle is located.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Electric Utility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electric company servicing that area.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2020 Census Tract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Census tract identifier from the 2020 census (used for demographic/geographic analysis).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Dropped Features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We didn’t find interesting details about the following features, so we chose to drop them: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Base MSRP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Vehicle 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DOL Vehicle ID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2020 Census Tract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25" y="3501250"/>
            <a:ext cx="8520601" cy="6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980" y="4288175"/>
            <a:ext cx="2838047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Missing Values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5132700" cy="2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The only missing values we cared about were the County and City values, thus we chose to drop those rows.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The missing values in Electric Range and Base MSRP were indication that the data was unknown, which we used in </a:t>
            </a:r>
            <a:r>
              <a:rPr lang="iw"/>
              <a:t>statistics later on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4075" y="109575"/>
            <a:ext cx="2783725" cy="41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75" y="4310650"/>
            <a:ext cx="5846000" cy="4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713" y="4299174"/>
            <a:ext cx="20764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Questions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The questions we’ve had about the dataset were: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State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WA County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City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Electric Utility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Electric Vehicle Type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Top 5 makes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Top 5 models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>
                <a:solidFill>
                  <a:srgbClr val="FF9900"/>
                </a:solidFill>
              </a:rPr>
              <a:t>Models per Make (top 3)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>
                <a:solidFill>
                  <a:srgbClr val="FF9900"/>
                </a:solidFill>
              </a:rPr>
              <a:t>Top Make per County (top 10)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>
                <a:solidFill>
                  <a:srgbClr val="FF9900"/>
                </a:solidFill>
              </a:rPr>
              <a:t>Top Models per County (top 10)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>
                <a:solidFill>
                  <a:srgbClr val="FF0000"/>
                </a:solidFill>
              </a:rPr>
              <a:t>Top 3 Make per CAFV </a:t>
            </a:r>
            <a:r>
              <a:rPr lang="iw">
                <a:solidFill>
                  <a:srgbClr val="FF0000"/>
                </a:solidFill>
              </a:rPr>
              <a:t>Eligibility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>
                <a:solidFill>
                  <a:srgbClr val="FF0000"/>
                </a:solidFill>
              </a:rPr>
              <a:t>Mean Electric Range of Top 3 Make per CAFV Eligibility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>
                <a:solidFill>
                  <a:srgbClr val="FF0000"/>
                </a:solidFill>
              </a:rPr>
              <a:t>Top models </a:t>
            </a:r>
            <a:r>
              <a:rPr lang="iw">
                <a:solidFill>
                  <a:srgbClr val="FF0000"/>
                </a:solidFill>
              </a:rPr>
              <a:t>of Make </a:t>
            </a:r>
            <a:r>
              <a:rPr lang="iw">
                <a:solidFill>
                  <a:srgbClr val="FF0000"/>
                </a:solidFill>
              </a:rPr>
              <a:t>per CAFV </a:t>
            </a:r>
            <a:r>
              <a:rPr lang="iw">
                <a:solidFill>
                  <a:srgbClr val="FF0000"/>
                </a:solidFill>
              </a:rPr>
              <a:t>Eligibility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7154975" y="0"/>
            <a:ext cx="1863000" cy="1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dk2"/>
                </a:solidFill>
              </a:rPr>
              <a:t>Legend</a:t>
            </a:r>
            <a:r>
              <a:rPr lang="iw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 sz="1800">
                <a:solidFill>
                  <a:srgbClr val="38761D"/>
                </a:solidFill>
              </a:rPr>
              <a:t>Univariate</a:t>
            </a:r>
            <a:endParaRPr sz="1800"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 sz="1800">
                <a:solidFill>
                  <a:srgbClr val="FF9900"/>
                </a:solidFill>
              </a:rPr>
              <a:t>Bivariate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 sz="1800">
                <a:solidFill>
                  <a:srgbClr val="FF0000"/>
                </a:solidFill>
              </a:rPr>
              <a:t>Multivariate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Vehicles per State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501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Most vehicles in the databset are from from Washington, roughly ~235,000 in WA followed by ~100 in CA</a:t>
            </a:r>
            <a:br>
              <a:rPr lang="iw"/>
            </a:br>
            <a:r>
              <a:rPr lang="iw"/>
              <a:t>Thus we concluded that vehicles not from WA are outliers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575" y="649950"/>
            <a:ext cx="3738349" cy="44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6254825" y="214550"/>
            <a:ext cx="2412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dk2"/>
                </a:solidFill>
              </a:rPr>
              <a:t>WA Trimmed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5511" y="2858725"/>
            <a:ext cx="2276075" cy="22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9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Vehicles per WA County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944100"/>
            <a:ext cx="85206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Conclusion: King county has the most (118,711) by a </a:t>
            </a:r>
            <a:r>
              <a:rPr b="1" lang="iw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large </a:t>
            </a:r>
            <a:r>
              <a:rPr lang="iw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margin, followed by Snohomish Thus we can conclude that any vehicle not in King county is a minor outlier in the dataset</a:t>
            </a:r>
            <a:endParaRPr sz="2100"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50" y="1692150"/>
            <a:ext cx="7582999" cy="32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8276" y="2146476"/>
            <a:ext cx="3035725" cy="299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0177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Tesla is the most popular make in the top 20 cities by a large margin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637" y="1615900"/>
            <a:ext cx="3768736" cy="352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9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Vehicles per City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Vehicles per Electric Utility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>
                <a:latin typeface="Roboto"/>
                <a:ea typeface="Roboto"/>
                <a:cs typeface="Roboto"/>
                <a:sym typeface="Roboto"/>
              </a:rPr>
              <a:t>Conclusion: We see that 'Puget Sound Energy Inc' is the utility that service the most vehicles, followed </a:t>
            </a:r>
            <a:r>
              <a:rPr lang="iw">
                <a:latin typeface="Roboto"/>
                <a:ea typeface="Roboto"/>
                <a:cs typeface="Roboto"/>
                <a:sym typeface="Roboto"/>
              </a:rPr>
              <a:t>closely</a:t>
            </a:r>
            <a:r>
              <a:rPr lang="iw">
                <a:latin typeface="Roboto"/>
                <a:ea typeface="Roboto"/>
                <a:cs typeface="Roboto"/>
                <a:sym typeface="Roboto"/>
              </a:rPr>
              <a:t> by 'City of Tacoma'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775" y="1959025"/>
            <a:ext cx="5316469" cy="31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Vehicles per Electric Vehicle Type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 ~80% of vehicles are Battery Electric Vehicle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1 out of 5 vehicles is Plug-in Hybrid Vehicle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925" y="2216625"/>
            <a:ext cx="3577375" cy="23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769" y="2216625"/>
            <a:ext cx="3175231" cy="23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5 Makes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152475"/>
            <a:ext cx="325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</a:t>
            </a:r>
            <a:br>
              <a:rPr lang="iw"/>
            </a:br>
            <a:r>
              <a:rPr lang="iw"/>
              <a:t>TESLA is the top Make in the dataset by a large margin, </a:t>
            </a:r>
            <a:br>
              <a:rPr lang="iw"/>
            </a:br>
            <a:r>
              <a:rPr lang="iw"/>
              <a:t>followed by CHEVROLET </a:t>
            </a:r>
            <a:br>
              <a:rPr lang="iw"/>
            </a:br>
            <a:r>
              <a:rPr lang="iw"/>
              <a:t>and NISSAN.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9148" y="1017725"/>
            <a:ext cx="5476824" cy="40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5 Models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52475"/>
            <a:ext cx="29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The top models are Model Y and 3 of TESLA followed by Leaf of Nissan.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800" y="1289500"/>
            <a:ext cx="5525524" cy="32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Models per Make (top 3 Make)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48.7% of Tesla Models are the Model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42.5% of CHEVROLET Models are BOLT 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88.9% of NISSAN models are LEAF.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550" y="2645095"/>
            <a:ext cx="2492025" cy="2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25" y="2664087"/>
            <a:ext cx="2492025" cy="24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0675" y="2634500"/>
            <a:ext cx="2492025" cy="25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Makes in </a:t>
            </a:r>
            <a:r>
              <a:rPr lang="iw"/>
              <a:t>WA Counties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152475"/>
            <a:ext cx="5085900" cy="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iw" sz="1520"/>
              <a:t>Conclusion: </a:t>
            </a:r>
            <a:r>
              <a:rPr lang="iw" sz="1520"/>
              <a:t>TESLA is leading in the top 10 counties and in 95% of all counties in Washington (WA)</a:t>
            </a:r>
            <a:endParaRPr sz="1620"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2525" y="524825"/>
            <a:ext cx="2110775" cy="36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512575" y="1754325"/>
            <a:ext cx="32703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iw" sz="1320"/>
              <a:t>And the only county TESLA isn’t in the lead is Garfield</a:t>
            </a:r>
            <a:endParaRPr sz="1420"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425" y="2352679"/>
            <a:ext cx="1721708" cy="13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754322"/>
            <a:ext cx="3200887" cy="33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562400" y="3697500"/>
            <a:ext cx="32703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iw" sz="1300"/>
              <a:t>And TESLA is actually tied with FORD in Columbia</a:t>
            </a:r>
            <a:endParaRPr sz="1420"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6824" y="4175605"/>
            <a:ext cx="1528900" cy="971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Models in WA Counties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6105600" cy="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500"/>
              <a:t>Conclusion: </a:t>
            </a:r>
            <a:r>
              <a:rPr lang="iw" sz="1500"/>
              <a:t>The Model Y is the most popular in the top 10 counties and is the top model in 59% of all counties </a:t>
            </a:r>
            <a:r>
              <a:rPr lang="iw" sz="1500"/>
              <a:t>in Washington (WA)</a:t>
            </a:r>
            <a:r>
              <a:rPr lang="iw" sz="1500"/>
              <a:t>.</a:t>
            </a:r>
            <a:endParaRPr sz="1500"/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225" y="1522624"/>
            <a:ext cx="2770775" cy="36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7275" y="2058925"/>
            <a:ext cx="3692149" cy="28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Amount of Top 3 Make of each CAFV Eligibility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941525"/>
            <a:ext cx="4683600" cy="15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/>
              <a:t>Conclusion: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Most unknown </a:t>
            </a:r>
            <a:r>
              <a:rPr lang="iw" sz="1600"/>
              <a:t>eligibility</a:t>
            </a:r>
            <a:r>
              <a:rPr lang="iw" sz="1600"/>
              <a:t> are TESLA vehicles.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Most eligible vehicles are by Tesla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Most not eligible vehicles are by Jeep</a:t>
            </a:r>
            <a:endParaRPr sz="1600"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050" y="2262825"/>
            <a:ext cx="4852949" cy="28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Mean of Top 3 Make of each CAFV Eligibility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0" y="1017725"/>
            <a:ext cx="3024600" cy="4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 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TESLA has the highest mean of Electric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Unknown </a:t>
            </a:r>
            <a:r>
              <a:rPr lang="iw"/>
              <a:t>eligibility</a:t>
            </a:r>
            <a:r>
              <a:rPr lang="iw"/>
              <a:t> has no known electric range.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Low battery not eligibility vehicles have lower electric range than </a:t>
            </a:r>
            <a:r>
              <a:rPr lang="iw"/>
              <a:t>eligible </a:t>
            </a:r>
            <a:r>
              <a:rPr lang="iw"/>
              <a:t>vehicles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523" y="1420348"/>
            <a:ext cx="6119475" cy="37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models in each eligibility category - CAFV Eligible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15247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iw" sz="1629"/>
              <a:t>Conclusion</a:t>
            </a:r>
            <a:r>
              <a:rPr lang="iw" sz="1629"/>
              <a:t>: The Tesla Model 3 is the top model that is Eligible with close to 14 thousands vehicles, followed by the Nissan Leaf with ~10 </a:t>
            </a:r>
            <a:r>
              <a:rPr lang="iw" sz="1629"/>
              <a:t>thousands vehicles</a:t>
            </a:r>
            <a:endParaRPr sz="1629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900" y="1873050"/>
            <a:ext cx="6497150" cy="32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650"/>
              <a:t>Top models in each eligibility category - </a:t>
            </a:r>
            <a:r>
              <a:rPr lang="iw" sz="2133"/>
              <a:t>CAFV eligibility unknown</a:t>
            </a:r>
            <a:endParaRPr sz="2133"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15247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The Tesla Model Y is the model that leads followed by the Model 3</a:t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449" y="1747750"/>
            <a:ext cx="6884549" cy="33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models in each eligibility category - Not CAFV eligible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15247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The JEEP Wrangler is the top model that is not eligible with over 4 thousands vehicles, followed by the Toyota Prius Prime with ~3600 vehicles</a:t>
            </a:r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274" y="1804375"/>
            <a:ext cx="6769724" cy="33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445025"/>
            <a:ext cx="8520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7600"/>
              <a:t>THANKS FOR LISTENING</a:t>
            </a:r>
            <a:endParaRPr sz="7600"/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8510">
            <a:off x="0" y="3912572"/>
            <a:ext cx="4572001" cy="123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